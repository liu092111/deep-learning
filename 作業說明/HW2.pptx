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1" r:id="rId3"/>
    <p:sldId id="262" r:id="rId4"/>
    <p:sldId id="257" r:id="rId5"/>
    <p:sldId id="269" r:id="rId6"/>
    <p:sldId id="258" r:id="rId7"/>
    <p:sldId id="259" r:id="rId8"/>
    <p:sldId id="260" r:id="rId9"/>
    <p:sldId id="273" r:id="rId10"/>
    <p:sldId id="270" r:id="rId11"/>
    <p:sldId id="263" r:id="rId12"/>
    <p:sldId id="261" r:id="rId13"/>
    <p:sldId id="264" r:id="rId14"/>
    <p:sldId id="265" r:id="rId15"/>
    <p:sldId id="267" r:id="rId16"/>
    <p:sldId id="272" r:id="rId17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2DEE4"/>
    <a:srgbClr val="F8F2E8"/>
    <a:srgbClr val="F3E9D9"/>
    <a:srgbClr val="E2EFF2"/>
    <a:srgbClr val="DCEFF4"/>
    <a:srgbClr val="C2E3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562" autoAdjust="0"/>
    <p:restoredTop sz="94660"/>
  </p:normalViewPr>
  <p:slideViewPr>
    <p:cSldViewPr snapToGrid="0">
      <p:cViewPr varScale="1">
        <p:scale>
          <a:sx n="123" d="100"/>
          <a:sy n="123" d="100"/>
        </p:scale>
        <p:origin x="24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image" Target="../media/image5.wmf"/><Relationship Id="rId1" Type="http://schemas.openxmlformats.org/officeDocument/2006/relationships/image" Target="../media/image4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image" Target="../media/image8.wmf"/><Relationship Id="rId1" Type="http://schemas.openxmlformats.org/officeDocument/2006/relationships/image" Target="../media/image7.wmf"/><Relationship Id="rId4" Type="http://schemas.openxmlformats.org/officeDocument/2006/relationships/image" Target="../media/image10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.wmf"/><Relationship Id="rId1" Type="http://schemas.openxmlformats.org/officeDocument/2006/relationships/image" Target="../media/image11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.wmf"/><Relationship Id="rId1" Type="http://schemas.openxmlformats.org/officeDocument/2006/relationships/image" Target="../media/image13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EC9FDC3-1320-4A61-8C97-9D1F489DE2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0F334BE6-CB6A-4B9C-BCFB-EB86A82F48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36F0681-0A94-4A0C-9879-5AC3FA2CC0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61AAD-BB23-4152-B336-9F67ED4AA2B6}" type="datetimeFigureOut">
              <a:rPr lang="zh-TW" altLang="en-US" smtClean="0"/>
              <a:t>2024/10/10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0C51272-1DDC-47A1-8D81-C03EB3A9AA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86F124E-0077-45CC-AC97-419FFB651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DF0A1-39AA-45FB-A2B0-88C8B91A3FC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492778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66AD32C-CC9B-49C1-B127-FE2DEEC6B9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56F55CD-EC58-43F0-9D16-A01FDC0D8F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3CC32AD-BBD8-40B2-A9C7-1DC9EA03F0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61AAD-BB23-4152-B336-9F67ED4AA2B6}" type="datetimeFigureOut">
              <a:rPr lang="zh-TW" altLang="en-US" smtClean="0"/>
              <a:t>2024/10/10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1034FB3-739A-4CD3-A224-B35D9D44F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6B09E0C-A687-4925-BDDB-85310CCB6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DF0A1-39AA-45FB-A2B0-88C8B91A3FC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805536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631A82E-C288-41A1-8802-A568451EFF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86EF926-3EA8-4B18-8656-D78CDF5DFF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F10FF4B-9065-4149-B6B6-117E0FCA4C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61AAD-BB23-4152-B336-9F67ED4AA2B6}" type="datetimeFigureOut">
              <a:rPr lang="zh-TW" altLang="en-US" smtClean="0"/>
              <a:t>2024/10/10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0E41F0D-854B-4762-BA50-772C73DF1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C30BB67-E633-4322-B957-AE6753E6E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DF0A1-39AA-45FB-A2B0-88C8B91A3FC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595979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BA16A1F-DE08-4E26-8002-3C6E4DABA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2170667-5B9C-47EC-9592-1E8CABFC8A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A57E457E-E024-4AB4-8C79-644B82F7C6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4F3CFB0A-70B9-45D0-9C4B-23F528583E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61AAD-BB23-4152-B336-9F67ED4AA2B6}" type="datetimeFigureOut">
              <a:rPr lang="zh-TW" altLang="en-US" smtClean="0"/>
              <a:t>2024/10/10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963B0ED7-5157-4913-BB42-223BA2F2AA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E55469AB-1897-47F7-A1A2-FCF5BF4EC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DF0A1-39AA-45FB-A2B0-88C8B91A3FC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532508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ECD35A0-B296-4D6A-B484-356B8AB2CD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13BABA4-6CFD-4AE0-A1DC-4974FFBCE6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86CF3970-44AF-452D-84C7-1D2F0BDE17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8CF5B8FC-80EB-4A21-92A2-57F7FC7632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3682CC5A-91D4-4DD6-BCDD-FE18E67E35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9DF3871C-E24C-498F-8629-112DA0E093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61AAD-BB23-4152-B336-9F67ED4AA2B6}" type="datetimeFigureOut">
              <a:rPr lang="zh-TW" altLang="en-US" smtClean="0"/>
              <a:t>2024/10/10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3B74A940-BD02-46C1-9E7D-AA865A134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93850C37-8193-4CA2-BE7D-7E48374D8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DF0A1-39AA-45FB-A2B0-88C8B91A3FC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335598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8F725AC-4539-4977-BC75-EE190B0E28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804D64A7-BCEF-4DDC-883E-4E229BD5FF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61AAD-BB23-4152-B336-9F67ED4AA2B6}" type="datetimeFigureOut">
              <a:rPr lang="zh-TW" altLang="en-US" smtClean="0"/>
              <a:t>2024/10/10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FBA4B20F-148C-49FA-A1C2-873974029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752339F7-5142-45D3-9C7D-8552EB833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DF0A1-39AA-45FB-A2B0-88C8B91A3FC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148407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3A725B16-4E99-445A-967C-44DE5EF499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61AAD-BB23-4152-B336-9F67ED4AA2B6}" type="datetimeFigureOut">
              <a:rPr lang="zh-TW" altLang="en-US" smtClean="0"/>
              <a:t>2024/10/10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6FC7AC87-84D5-4FB3-B19D-7C9AB1295D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B17DC09-AECC-46CC-AE6C-120146796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DF0A1-39AA-45FB-A2B0-88C8B91A3FC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025844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DA8D25A-9B47-4C5E-8370-AEF408F44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31EAF07-2CD2-4195-B071-A122E57186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FAD4969D-43C6-4F6A-9E74-334D3D39CE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89338FC0-1B8E-43EB-8F5E-B8AF68E88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61AAD-BB23-4152-B336-9F67ED4AA2B6}" type="datetimeFigureOut">
              <a:rPr lang="zh-TW" altLang="en-US" smtClean="0"/>
              <a:t>2024/10/10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FCB428F-2C53-466A-8D15-FA032FB501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9357BF06-46FF-4089-9E60-771B26B2B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DF0A1-39AA-45FB-A2B0-88C8B91A3FC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019473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C429CF1-75BB-4FFE-94FE-8C891E3631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42C4B59E-5FD5-484A-A3EF-DC0CD2FD531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29918944-2803-4EA5-B0B0-1FFC000DD6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667E5B7-C9EB-4E5D-9FF9-4F87FA4A9A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61AAD-BB23-4152-B336-9F67ED4AA2B6}" type="datetimeFigureOut">
              <a:rPr lang="zh-TW" altLang="en-US" smtClean="0"/>
              <a:t>2024/10/10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7CF414D4-7728-4D97-A596-C04996515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2C73D23D-E957-46C5-BF94-7F8C33647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DF0A1-39AA-45FB-A2B0-88C8B91A3FC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238529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184A85E-F64C-4911-AE7E-9F0B68C154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C1822504-A2B9-4B08-BED1-D20710BAA0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BF20502-A70C-4187-AD90-51EDA45D22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61AAD-BB23-4152-B336-9F67ED4AA2B6}" type="datetimeFigureOut">
              <a:rPr lang="zh-TW" altLang="en-US" smtClean="0"/>
              <a:t>2024/10/10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7D0E363-3428-47D6-9D83-4FDE57A83F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4CF422F-1C8E-4A50-AEF4-01A85BF1C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DF0A1-39AA-45FB-A2B0-88C8B91A3FC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781353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C45FAB58-888C-4F53-A691-BF33335210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5BD2F78A-3E4F-478B-BA4E-5503146DE6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8D34A80-0BB2-4179-A6F6-A5750513B8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61AAD-BB23-4152-B336-9F67ED4AA2B6}" type="datetimeFigureOut">
              <a:rPr lang="zh-TW" altLang="en-US" smtClean="0"/>
              <a:t>2024/10/10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8B10DAA-5A33-4E67-B4FA-59067CC19C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B629D5F-E734-4341-8F02-1925FBAF9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DF0A1-39AA-45FB-A2B0-88C8B91A3FC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781369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F8BE5518-15E1-4C88-BD8E-27C24B38A6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3C1CC9B-FDC6-4348-8886-25DA9F8FEA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921F74B-14F8-4E4A-B2F6-88C1856F44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C61AAD-BB23-4152-B336-9F67ED4AA2B6}" type="datetimeFigureOut">
              <a:rPr lang="zh-TW" altLang="en-US" smtClean="0"/>
              <a:t>2024/10/10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8919413-A29A-445D-9057-F719BB6E75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37DE831-CFC1-4D8B-9276-E11DE26EE8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DDF0A1-39AA-45FB-A2B0-88C8B91A3FC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68930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Times New Roman" panose="02020603050405020304" pitchFamily="18" charset="0"/>
          <a:ea typeface="標楷體" panose="03000509000000000000" pitchFamily="65" charset="-120"/>
          <a:cs typeface="Times New Roman" panose="02020603050405020304" pitchFamily="18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Times New Roman" panose="02020603050405020304" pitchFamily="18" charset="0"/>
          <a:ea typeface="標楷體" panose="03000509000000000000" pitchFamily="65" charset="-120"/>
          <a:cs typeface="Times New Roman" panose="02020603050405020304" pitchFamily="18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imes New Roman" panose="02020603050405020304" pitchFamily="18" charset="0"/>
          <a:ea typeface="標楷體" panose="03000509000000000000" pitchFamily="65" charset="-120"/>
          <a:cs typeface="Times New Roman" panose="02020603050405020304" pitchFamily="18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Times New Roman" panose="02020603050405020304" pitchFamily="18" charset="0"/>
          <a:ea typeface="標楷體" panose="03000509000000000000" pitchFamily="65" charset="-120"/>
          <a:cs typeface="Times New Roman" panose="02020603050405020304" pitchFamily="18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標楷體" panose="03000509000000000000" pitchFamily="65" charset="-120"/>
          <a:cs typeface="Times New Roman" panose="02020603050405020304" pitchFamily="18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標楷體" panose="03000509000000000000" pitchFamily="65" charset="-120"/>
          <a:cs typeface="Times New Roman" panose="02020603050405020304" pitchFamily="18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.wmf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wmf"/><Relationship Id="rId3" Type="http://schemas.openxmlformats.org/officeDocument/2006/relationships/oleObject" Target="../embeddings/oleObject3.bin"/><Relationship Id="rId7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5.w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4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wmf"/><Relationship Id="rId3" Type="http://schemas.openxmlformats.org/officeDocument/2006/relationships/oleObject" Target="../embeddings/oleObject6.bin"/><Relationship Id="rId7" Type="http://schemas.openxmlformats.org/officeDocument/2006/relationships/oleObject" Target="../embeddings/oleObject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8.wmf"/><Relationship Id="rId5" Type="http://schemas.openxmlformats.org/officeDocument/2006/relationships/oleObject" Target="../embeddings/oleObject7.bin"/><Relationship Id="rId10" Type="http://schemas.openxmlformats.org/officeDocument/2006/relationships/image" Target="../media/image10.wmf"/><Relationship Id="rId4" Type="http://schemas.openxmlformats.org/officeDocument/2006/relationships/image" Target="../media/image7.wmf"/><Relationship Id="rId9" Type="http://schemas.openxmlformats.org/officeDocument/2006/relationships/oleObject" Target="../embeddings/oleObject9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2.wmf"/><Relationship Id="rId5" Type="http://schemas.openxmlformats.org/officeDocument/2006/relationships/oleObject" Target="../embeddings/oleObject11.bin"/><Relationship Id="rId4" Type="http://schemas.openxmlformats.org/officeDocument/2006/relationships/image" Target="../media/image11.w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7" Type="http://schemas.openxmlformats.org/officeDocument/2006/relationships/oleObject" Target="../embeddings/oleObject1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2.wmf"/><Relationship Id="rId5" Type="http://schemas.openxmlformats.org/officeDocument/2006/relationships/oleObject" Target="../embeddings/oleObject13.bin"/><Relationship Id="rId4" Type="http://schemas.openxmlformats.org/officeDocument/2006/relationships/image" Target="../media/image13.wmf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170F190-BDB1-40C1-9BD6-54913D3EE25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HW2 </a:t>
            </a:r>
            <a:r>
              <a:rPr lang="zh-TW" altLang="en-US" dirty="0"/>
              <a:t>講解</a:t>
            </a:r>
            <a:endParaRPr lang="zh-TW" altLang="en-US" dirty="0">
              <a:latin typeface="Times New Roman" panose="02020603050405020304" pitchFamily="18" charset="0"/>
            </a:endParaRP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944A4174-5E36-4A31-8635-FDF37A85D61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dirty="0"/>
              <a:t>Couette flow</a:t>
            </a:r>
            <a:r>
              <a:rPr lang="en-US" altLang="zh-TW" dirty="0">
                <a:latin typeface="Times New Roman" panose="02020603050405020304" pitchFamily="18" charset="0"/>
              </a:rPr>
              <a:t>(</a:t>
            </a:r>
            <a:r>
              <a:rPr lang="zh-TW" altLang="en-US" dirty="0">
                <a:latin typeface="Times New Roman" panose="02020603050405020304" pitchFamily="18" charset="0"/>
              </a:rPr>
              <a:t>流體力學</a:t>
            </a:r>
            <a:r>
              <a:rPr lang="en-US" altLang="zh-TW" dirty="0">
                <a:latin typeface="Times New Roman" panose="02020603050405020304" pitchFamily="18" charset="0"/>
              </a:rPr>
              <a:t>) and </a:t>
            </a:r>
            <a:r>
              <a:rPr lang="en-US" altLang="zh-TW" dirty="0"/>
              <a:t>neural network</a:t>
            </a:r>
            <a:r>
              <a:rPr lang="en-US" altLang="zh-TW" dirty="0">
                <a:latin typeface="Times New Roman" panose="02020603050405020304" pitchFamily="18" charset="0"/>
              </a:rPr>
              <a:t>(</a:t>
            </a:r>
            <a:r>
              <a:rPr lang="zh-TW" altLang="en-US" dirty="0">
                <a:latin typeface="Times New Roman" panose="02020603050405020304" pitchFamily="18" charset="0"/>
              </a:rPr>
              <a:t>神經網路</a:t>
            </a:r>
            <a:r>
              <a:rPr lang="en-US" altLang="zh-TW" dirty="0">
                <a:latin typeface="Times New Roman" panose="02020603050405020304" pitchFamily="18" charset="0"/>
              </a:rPr>
              <a:t>)</a:t>
            </a:r>
            <a:endParaRPr lang="zh-TW" altLang="en-US" dirty="0">
              <a:latin typeface="Times New Roman" panose="02020603050405020304" pitchFamily="18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33B4180-EC7F-4265-A27C-A8E405A05B35}"/>
              </a:ext>
            </a:extLst>
          </p:cNvPr>
          <p:cNvSpPr/>
          <p:nvPr/>
        </p:nvSpPr>
        <p:spPr>
          <a:xfrm rot="150421">
            <a:off x="-243129" y="6165859"/>
            <a:ext cx="12678257" cy="1122927"/>
          </a:xfrm>
          <a:prstGeom prst="rect">
            <a:avLst/>
          </a:prstGeom>
          <a:solidFill>
            <a:srgbClr val="C2DEE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400479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40CE3ED3-0FF5-4BE7-9991-D5AA10D8DD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一但我們可以用過去來推知未來，是否人類的未來將被準確預測</a:t>
            </a:r>
            <a:r>
              <a:rPr lang="en-US" altLang="zh-TW" dirty="0"/>
              <a:t>?</a:t>
            </a:r>
            <a:endParaRPr lang="zh-TW" altLang="en-US" dirty="0">
              <a:latin typeface="Times New Roman" panose="02020603050405020304" pitchFamily="18" charset="0"/>
            </a:endParaRP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802DFA1E-EA1F-460C-B03D-A77DC1902E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</a:rPr>
              <a:t>有可能</a:t>
            </a:r>
            <a:r>
              <a:rPr lang="en-US" altLang="zh-TW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</a:rPr>
              <a:t>?</a:t>
            </a:r>
            <a:endParaRPr lang="zh-TW" altLang="en-US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E1FA8D2-DFD5-4756-AAA0-A83E1F45F56C}"/>
              </a:ext>
            </a:extLst>
          </p:cNvPr>
          <p:cNvSpPr/>
          <p:nvPr/>
        </p:nvSpPr>
        <p:spPr>
          <a:xfrm rot="150421">
            <a:off x="-243129" y="6165859"/>
            <a:ext cx="12678257" cy="1122927"/>
          </a:xfrm>
          <a:prstGeom prst="rect">
            <a:avLst/>
          </a:prstGeom>
          <a:solidFill>
            <a:srgbClr val="C2DEE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858748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40CE3ED3-0FF5-4BE7-9991-D5AA10D8DD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Hagen-Poiseuille</a:t>
            </a:r>
            <a:r>
              <a:rPr lang="en-US" altLang="zh-TW" dirty="0">
                <a:latin typeface="Times New Roman" panose="02020603050405020304" pitchFamily="18" charset="0"/>
              </a:rPr>
              <a:t> flow</a:t>
            </a:r>
            <a:endParaRPr lang="zh-TW" altLang="en-US" dirty="0">
              <a:latin typeface="Times New Roman" panose="02020603050405020304" pitchFamily="18" charset="0"/>
            </a:endParaRP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802DFA1E-EA1F-460C-B03D-A77DC1902E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</a:rPr>
              <a:t>Derive from fluid mechanics</a:t>
            </a:r>
            <a:endParaRPr lang="zh-TW" altLang="en-US" dirty="0">
              <a:latin typeface="Times New Roman" panose="02020603050405020304" pitchFamily="18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E1FA8D2-DFD5-4756-AAA0-A83E1F45F56C}"/>
              </a:ext>
            </a:extLst>
          </p:cNvPr>
          <p:cNvSpPr/>
          <p:nvPr/>
        </p:nvSpPr>
        <p:spPr>
          <a:xfrm rot="150421">
            <a:off x="-243129" y="6165859"/>
            <a:ext cx="12678257" cy="1122927"/>
          </a:xfrm>
          <a:prstGeom prst="rect">
            <a:avLst/>
          </a:prstGeom>
          <a:solidFill>
            <a:srgbClr val="C2DEE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298339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7D2B3E5-F94A-4E37-89E1-39E96F1059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4836"/>
            <a:ext cx="10515600" cy="1325563"/>
          </a:xfrm>
        </p:spPr>
        <p:txBody>
          <a:bodyPr/>
          <a:lstStyle/>
          <a:p>
            <a:r>
              <a:rPr lang="en-US" altLang="zh-TW" dirty="0"/>
              <a:t>Hagen-Poiseuille</a:t>
            </a:r>
            <a:r>
              <a:rPr lang="en-US" altLang="zh-TW" dirty="0">
                <a:latin typeface="Times New Roman" panose="02020603050405020304" pitchFamily="18" charset="0"/>
              </a:rPr>
              <a:t> flow</a:t>
            </a:r>
            <a:endParaRPr lang="zh-TW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10" name="物件 9">
            <a:extLst>
              <a:ext uri="{FF2B5EF4-FFF2-40B4-BE49-F238E27FC236}">
                <a16:creationId xmlns:a16="http://schemas.microsoft.com/office/drawing/2014/main" id="{12A71AF5-13E2-4533-B5B5-825ED2FDBA2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4674963"/>
              </p:ext>
            </p:extLst>
          </p:nvPr>
        </p:nvGraphicFramePr>
        <p:xfrm>
          <a:off x="3506756" y="1328467"/>
          <a:ext cx="6067569" cy="7740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4" name="Equation" r:id="rId3" imgW="3085920" imgH="393480" progId="Equation.DSMT4">
                  <p:embed/>
                </p:oleObj>
              </mc:Choice>
              <mc:Fallback>
                <p:oleObj name="Equation" r:id="rId3" imgW="3085920" imgH="393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506756" y="1328467"/>
                        <a:ext cx="6067569" cy="77405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內容版面配置區 12">
            <a:extLst>
              <a:ext uri="{FF2B5EF4-FFF2-40B4-BE49-F238E27FC236}">
                <a16:creationId xmlns:a16="http://schemas.microsoft.com/office/drawing/2014/main" id="{F227729A-0FF4-43CF-B1C4-64849E6F5518}"/>
              </a:ext>
            </a:extLst>
          </p:cNvPr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74195434"/>
              </p:ext>
            </p:extLst>
          </p:nvPr>
        </p:nvGraphicFramePr>
        <p:xfrm>
          <a:off x="8715926" y="3772204"/>
          <a:ext cx="2445696" cy="9832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5" name="Equation" r:id="rId5" imgW="1041120" imgH="419040" progId="Equation.DSMT4">
                  <p:embed/>
                </p:oleObj>
              </mc:Choice>
              <mc:Fallback>
                <p:oleObj name="Equation" r:id="rId5" imgW="1041120" imgH="419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8715926" y="3772204"/>
                        <a:ext cx="2445696" cy="98327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文字方塊 13">
            <a:extLst>
              <a:ext uri="{FF2B5EF4-FFF2-40B4-BE49-F238E27FC236}">
                <a16:creationId xmlns:a16="http://schemas.microsoft.com/office/drawing/2014/main" id="{E932667F-4FED-4154-B383-73FEFCC7572F}"/>
              </a:ext>
            </a:extLst>
          </p:cNvPr>
          <p:cNvSpPr txBox="1"/>
          <p:nvPr/>
        </p:nvSpPr>
        <p:spPr>
          <a:xfrm>
            <a:off x="838200" y="1546404"/>
            <a:ext cx="26374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dirty="0"/>
              <a:t>Navier-Stokes equation:</a:t>
            </a:r>
            <a:endParaRPr lang="zh-TW" altLang="en-US" sz="2000" dirty="0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717F41E5-BE76-4FAC-86EE-B80102BAFC9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8048" y="2819639"/>
            <a:ext cx="7708535" cy="3295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53757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40CE3ED3-0FF5-4BE7-9991-D5AA10D8DD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Neural Network</a:t>
            </a:r>
            <a:endParaRPr lang="zh-TW" altLang="en-US" dirty="0">
              <a:latin typeface="Times New Roman" panose="02020603050405020304" pitchFamily="18" charset="0"/>
            </a:endParaRP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802DFA1E-EA1F-460C-B03D-A77DC1902E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</a:rPr>
              <a:t>A lot of hidden </a:t>
            </a:r>
            <a:r>
              <a:rPr lang="en-US" altLang="zh-TW" dirty="0"/>
              <a:t>layer</a:t>
            </a:r>
            <a:endParaRPr lang="zh-TW" altLang="en-US" dirty="0">
              <a:latin typeface="Times New Roman" panose="02020603050405020304" pitchFamily="18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E1FA8D2-DFD5-4756-AAA0-A83E1F45F56C}"/>
              </a:ext>
            </a:extLst>
          </p:cNvPr>
          <p:cNvSpPr/>
          <p:nvPr/>
        </p:nvSpPr>
        <p:spPr>
          <a:xfrm rot="150421">
            <a:off x="-243129" y="6165859"/>
            <a:ext cx="12678257" cy="1122927"/>
          </a:xfrm>
          <a:prstGeom prst="rect">
            <a:avLst/>
          </a:prstGeom>
          <a:solidFill>
            <a:srgbClr val="C2DEE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034430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250F11A-2F23-45E1-9555-75A0EC8ADD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</a:rPr>
              <a:t>回顧機器學習三步驟</a:t>
            </a:r>
          </a:p>
        </p:txBody>
      </p:sp>
      <p:graphicFrame>
        <p:nvGraphicFramePr>
          <p:cNvPr id="9" name="物件 8">
            <a:extLst>
              <a:ext uri="{FF2B5EF4-FFF2-40B4-BE49-F238E27FC236}">
                <a16:creationId xmlns:a16="http://schemas.microsoft.com/office/drawing/2014/main" id="{8E5E5585-6667-45CE-ACEB-9C0212DAFF0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81188626"/>
              </p:ext>
            </p:extLst>
          </p:nvPr>
        </p:nvGraphicFramePr>
        <p:xfrm>
          <a:off x="5207000" y="1902493"/>
          <a:ext cx="1778000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9" name="Equation" r:id="rId3" imgW="672840" imgH="203040" progId="Equation.DSMT4">
                  <p:embed/>
                </p:oleObj>
              </mc:Choice>
              <mc:Fallback>
                <p:oleObj name="Equation" r:id="rId3" imgW="67284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207000" y="1902493"/>
                        <a:ext cx="1778000" cy="5365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物件 9">
            <a:extLst>
              <a:ext uri="{FF2B5EF4-FFF2-40B4-BE49-F238E27FC236}">
                <a16:creationId xmlns:a16="http://schemas.microsoft.com/office/drawing/2014/main" id="{5BAF8DDD-2595-49AA-A9FA-DE7AA171665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06758438"/>
              </p:ext>
            </p:extLst>
          </p:nvPr>
        </p:nvGraphicFramePr>
        <p:xfrm>
          <a:off x="6038850" y="3338513"/>
          <a:ext cx="1143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0" name="Equation" r:id="rId5" imgW="114120" imgH="177480" progId="Equation.DSMT4">
                  <p:embed/>
                </p:oleObj>
              </mc:Choice>
              <mc:Fallback>
                <p:oleObj name="Equation" r:id="rId5" imgW="114120" imgH="177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038850" y="3338513"/>
                        <a:ext cx="1143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物件 10">
            <a:extLst>
              <a:ext uri="{FF2B5EF4-FFF2-40B4-BE49-F238E27FC236}">
                <a16:creationId xmlns:a16="http://schemas.microsoft.com/office/drawing/2014/main" id="{AB63307A-7493-4AC2-8DB2-9A1F542BD4C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52168773"/>
              </p:ext>
            </p:extLst>
          </p:nvPr>
        </p:nvGraphicFramePr>
        <p:xfrm>
          <a:off x="5000313" y="2671348"/>
          <a:ext cx="2636838" cy="919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1" name="Equation" r:id="rId7" imgW="1091880" imgH="380880" progId="Equation.DSMT4">
                  <p:embed/>
                </p:oleObj>
              </mc:Choice>
              <mc:Fallback>
                <p:oleObj name="Equation" r:id="rId7" imgW="109188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000313" y="2671348"/>
                        <a:ext cx="2636838" cy="9191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EEE9C5D8-5D58-4669-8521-AC7D5AC640A0}"/>
              </a:ext>
            </a:extLst>
          </p:cNvPr>
          <p:cNvSpPr/>
          <p:nvPr/>
        </p:nvSpPr>
        <p:spPr>
          <a:xfrm>
            <a:off x="5874624" y="2706236"/>
            <a:ext cx="1903445" cy="793134"/>
          </a:xfrm>
          <a:prstGeom prst="roundRect">
            <a:avLst>
              <a:gd name="adj" fmla="val 16667"/>
            </a:avLst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F19E1E43-775E-469B-A3EF-9C185D9083E8}"/>
              </a:ext>
            </a:extLst>
          </p:cNvPr>
          <p:cNvSpPr txBox="1"/>
          <p:nvPr/>
        </p:nvSpPr>
        <p:spPr>
          <a:xfrm>
            <a:off x="6184058" y="3512096"/>
            <a:ext cx="14221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</a:rPr>
              <a:t>Loss function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09CBA7A6-D753-4D70-A66B-F1E4C7F4A1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7339" y="1902493"/>
            <a:ext cx="4625125" cy="2156551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zh-TW" altLang="en-US" dirty="0"/>
              <a:t>定義模型</a:t>
            </a:r>
            <a:endParaRPr lang="en-US" altLang="zh-TW" dirty="0"/>
          </a:p>
          <a:p>
            <a:pPr marL="514350" indent="-514350">
              <a:buFont typeface="+mj-lt"/>
              <a:buAutoNum type="arabicPeriod"/>
            </a:pPr>
            <a:r>
              <a:rPr lang="zh-TW" altLang="en-US" dirty="0"/>
              <a:t>定義損失函數</a:t>
            </a:r>
            <a:endParaRPr lang="en-US" altLang="zh-TW" dirty="0"/>
          </a:p>
          <a:p>
            <a:pPr marL="514350" indent="-514350">
              <a:buFont typeface="+mj-lt"/>
              <a:buAutoNum type="arabicPeriod"/>
            </a:pPr>
            <a:r>
              <a:rPr lang="zh-TW" altLang="en-US" dirty="0"/>
              <a:t>對參數進行最佳化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803EACC-E160-47CE-8A54-99D701CB1C45}"/>
              </a:ext>
            </a:extLst>
          </p:cNvPr>
          <p:cNvSpPr/>
          <p:nvPr/>
        </p:nvSpPr>
        <p:spPr>
          <a:xfrm rot="150421">
            <a:off x="-243129" y="6165859"/>
            <a:ext cx="12678257" cy="1122927"/>
          </a:xfrm>
          <a:prstGeom prst="rect">
            <a:avLst/>
          </a:prstGeom>
          <a:solidFill>
            <a:srgbClr val="C2DEE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200498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0EE564C-4D0C-4239-BDAF-69318D321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526"/>
            <a:ext cx="10515600" cy="1325563"/>
          </a:xfrm>
        </p:spPr>
        <p:txBody>
          <a:bodyPr/>
          <a:lstStyle/>
          <a:p>
            <a:r>
              <a:rPr lang="zh-TW" altLang="en-US" dirty="0"/>
              <a:t>分段連續</a:t>
            </a:r>
            <a:endParaRPr lang="zh-TW" altLang="en-US" dirty="0">
              <a:latin typeface="Times New Roman" panose="02020603050405020304" pitchFamily="18" charset="0"/>
            </a:endParaRPr>
          </a:p>
        </p:txBody>
      </p:sp>
      <p:cxnSp>
        <p:nvCxnSpPr>
          <p:cNvPr id="9" name="直線單箭頭接點 8">
            <a:extLst>
              <a:ext uri="{FF2B5EF4-FFF2-40B4-BE49-F238E27FC236}">
                <a16:creationId xmlns:a16="http://schemas.microsoft.com/office/drawing/2014/main" id="{9E4946C7-3815-4F4A-AB8E-0F998750E50F}"/>
              </a:ext>
            </a:extLst>
          </p:cNvPr>
          <p:cNvCxnSpPr>
            <a:cxnSpLocks/>
          </p:cNvCxnSpPr>
          <p:nvPr/>
        </p:nvCxnSpPr>
        <p:spPr>
          <a:xfrm>
            <a:off x="1166648" y="5114959"/>
            <a:ext cx="5139559" cy="5150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單箭頭接點 14">
            <a:extLst>
              <a:ext uri="{FF2B5EF4-FFF2-40B4-BE49-F238E27FC236}">
                <a16:creationId xmlns:a16="http://schemas.microsoft.com/office/drawing/2014/main" id="{B809998F-AC9E-457C-8C8C-23037AE0B0E7}"/>
              </a:ext>
            </a:extLst>
          </p:cNvPr>
          <p:cNvCxnSpPr>
            <a:cxnSpLocks/>
          </p:cNvCxnSpPr>
          <p:nvPr/>
        </p:nvCxnSpPr>
        <p:spPr>
          <a:xfrm flipV="1">
            <a:off x="1166648" y="1412590"/>
            <a:ext cx="69369" cy="375387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>
            <a:extLst>
              <a:ext uri="{FF2B5EF4-FFF2-40B4-BE49-F238E27FC236}">
                <a16:creationId xmlns:a16="http://schemas.microsoft.com/office/drawing/2014/main" id="{50EB1493-8148-4AE2-B5CA-38F79D01BF7F}"/>
              </a:ext>
            </a:extLst>
          </p:cNvPr>
          <p:cNvCxnSpPr>
            <a:cxnSpLocks/>
          </p:cNvCxnSpPr>
          <p:nvPr/>
        </p:nvCxnSpPr>
        <p:spPr>
          <a:xfrm flipV="1">
            <a:off x="1166648" y="1923393"/>
            <a:ext cx="1292773" cy="2522483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接點 22">
            <a:extLst>
              <a:ext uri="{FF2B5EF4-FFF2-40B4-BE49-F238E27FC236}">
                <a16:creationId xmlns:a16="http://schemas.microsoft.com/office/drawing/2014/main" id="{7F251CD6-732A-436F-A504-4768A251F770}"/>
              </a:ext>
            </a:extLst>
          </p:cNvPr>
          <p:cNvCxnSpPr>
            <a:cxnSpLocks/>
          </p:cNvCxnSpPr>
          <p:nvPr/>
        </p:nvCxnSpPr>
        <p:spPr>
          <a:xfrm flipH="1" flipV="1">
            <a:off x="2459421" y="1923393"/>
            <a:ext cx="1147729" cy="177835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接點 25">
            <a:extLst>
              <a:ext uri="{FF2B5EF4-FFF2-40B4-BE49-F238E27FC236}">
                <a16:creationId xmlns:a16="http://schemas.microsoft.com/office/drawing/2014/main" id="{4364FFAE-E9BC-4EA7-B42A-4B6C769ACE33}"/>
              </a:ext>
            </a:extLst>
          </p:cNvPr>
          <p:cNvCxnSpPr>
            <a:cxnSpLocks/>
          </p:cNvCxnSpPr>
          <p:nvPr/>
        </p:nvCxnSpPr>
        <p:spPr>
          <a:xfrm flipV="1">
            <a:off x="3607150" y="1743041"/>
            <a:ext cx="1822494" cy="1971315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接點 30">
            <a:extLst>
              <a:ext uri="{FF2B5EF4-FFF2-40B4-BE49-F238E27FC236}">
                <a16:creationId xmlns:a16="http://schemas.microsoft.com/office/drawing/2014/main" id="{CAEF5F27-3BE8-408D-9E6F-5F757913BB9E}"/>
              </a:ext>
            </a:extLst>
          </p:cNvPr>
          <p:cNvCxnSpPr>
            <a:cxnSpLocks/>
          </p:cNvCxnSpPr>
          <p:nvPr/>
        </p:nvCxnSpPr>
        <p:spPr>
          <a:xfrm>
            <a:off x="1166648" y="4452183"/>
            <a:ext cx="5196315" cy="0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接點 36">
            <a:extLst>
              <a:ext uri="{FF2B5EF4-FFF2-40B4-BE49-F238E27FC236}">
                <a16:creationId xmlns:a16="http://schemas.microsoft.com/office/drawing/2014/main" id="{02540E25-5EA1-4EE0-A522-535FE8721520}"/>
              </a:ext>
            </a:extLst>
          </p:cNvPr>
          <p:cNvCxnSpPr>
            <a:cxnSpLocks/>
          </p:cNvCxnSpPr>
          <p:nvPr/>
        </p:nvCxnSpPr>
        <p:spPr>
          <a:xfrm>
            <a:off x="158705" y="5114959"/>
            <a:ext cx="1007943" cy="0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線接點 38">
            <a:extLst>
              <a:ext uri="{FF2B5EF4-FFF2-40B4-BE49-F238E27FC236}">
                <a16:creationId xmlns:a16="http://schemas.microsoft.com/office/drawing/2014/main" id="{E0795455-32DB-4BC4-AD1F-660EF0841AF4}"/>
              </a:ext>
            </a:extLst>
          </p:cNvPr>
          <p:cNvCxnSpPr>
            <a:cxnSpLocks/>
          </p:cNvCxnSpPr>
          <p:nvPr/>
        </p:nvCxnSpPr>
        <p:spPr>
          <a:xfrm flipV="1">
            <a:off x="1166648" y="2651448"/>
            <a:ext cx="1185567" cy="2463511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接點 41">
            <a:extLst>
              <a:ext uri="{FF2B5EF4-FFF2-40B4-BE49-F238E27FC236}">
                <a16:creationId xmlns:a16="http://schemas.microsoft.com/office/drawing/2014/main" id="{A5B9EB50-83C4-47C8-B021-D7D184A9DF38}"/>
              </a:ext>
            </a:extLst>
          </p:cNvPr>
          <p:cNvCxnSpPr>
            <a:cxnSpLocks/>
          </p:cNvCxnSpPr>
          <p:nvPr/>
        </p:nvCxnSpPr>
        <p:spPr>
          <a:xfrm>
            <a:off x="2352215" y="2652500"/>
            <a:ext cx="3594538" cy="0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接點 43">
            <a:extLst>
              <a:ext uri="{FF2B5EF4-FFF2-40B4-BE49-F238E27FC236}">
                <a16:creationId xmlns:a16="http://schemas.microsoft.com/office/drawing/2014/main" id="{8AFC53DB-D1BD-4F4F-93F7-E06767077AB7}"/>
              </a:ext>
            </a:extLst>
          </p:cNvPr>
          <p:cNvCxnSpPr>
            <a:cxnSpLocks/>
          </p:cNvCxnSpPr>
          <p:nvPr/>
        </p:nvCxnSpPr>
        <p:spPr>
          <a:xfrm>
            <a:off x="1166648" y="5109821"/>
            <a:ext cx="1292773" cy="1467553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接點 48">
            <a:extLst>
              <a:ext uri="{FF2B5EF4-FFF2-40B4-BE49-F238E27FC236}">
                <a16:creationId xmlns:a16="http://schemas.microsoft.com/office/drawing/2014/main" id="{F5CE0261-C7EA-426E-BF01-4A4917276A7F}"/>
              </a:ext>
            </a:extLst>
          </p:cNvPr>
          <p:cNvCxnSpPr>
            <a:cxnSpLocks/>
          </p:cNvCxnSpPr>
          <p:nvPr/>
        </p:nvCxnSpPr>
        <p:spPr>
          <a:xfrm>
            <a:off x="2459421" y="6557093"/>
            <a:ext cx="3594538" cy="0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接點 49">
            <a:extLst>
              <a:ext uri="{FF2B5EF4-FFF2-40B4-BE49-F238E27FC236}">
                <a16:creationId xmlns:a16="http://schemas.microsoft.com/office/drawing/2014/main" id="{B95704F1-BA8A-4DEA-859C-8BFDD6F82D7C}"/>
              </a:ext>
            </a:extLst>
          </p:cNvPr>
          <p:cNvCxnSpPr>
            <a:cxnSpLocks/>
          </p:cNvCxnSpPr>
          <p:nvPr/>
        </p:nvCxnSpPr>
        <p:spPr>
          <a:xfrm>
            <a:off x="1166648" y="5109821"/>
            <a:ext cx="2364828" cy="30889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線接點 51">
            <a:extLst>
              <a:ext uri="{FF2B5EF4-FFF2-40B4-BE49-F238E27FC236}">
                <a16:creationId xmlns:a16="http://schemas.microsoft.com/office/drawing/2014/main" id="{48CD4DD1-A0B2-4DD2-A8CF-9C14633DC5F5}"/>
              </a:ext>
            </a:extLst>
          </p:cNvPr>
          <p:cNvCxnSpPr>
            <a:cxnSpLocks/>
          </p:cNvCxnSpPr>
          <p:nvPr/>
        </p:nvCxnSpPr>
        <p:spPr>
          <a:xfrm flipV="1">
            <a:off x="3537781" y="3184634"/>
            <a:ext cx="1932854" cy="1956077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接點 54">
            <a:extLst>
              <a:ext uri="{FF2B5EF4-FFF2-40B4-BE49-F238E27FC236}">
                <a16:creationId xmlns:a16="http://schemas.microsoft.com/office/drawing/2014/main" id="{784CE265-1536-400A-BB85-9E585AC97138}"/>
              </a:ext>
            </a:extLst>
          </p:cNvPr>
          <p:cNvCxnSpPr>
            <a:cxnSpLocks/>
          </p:cNvCxnSpPr>
          <p:nvPr/>
        </p:nvCxnSpPr>
        <p:spPr>
          <a:xfrm>
            <a:off x="5470635" y="3184634"/>
            <a:ext cx="759897" cy="0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7" name="物件 56">
            <a:extLst>
              <a:ext uri="{FF2B5EF4-FFF2-40B4-BE49-F238E27FC236}">
                <a16:creationId xmlns:a16="http://schemas.microsoft.com/office/drawing/2014/main" id="{E62F0E49-471B-493F-8780-F1D2F3C29B0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22881541"/>
              </p:ext>
            </p:extLst>
          </p:nvPr>
        </p:nvGraphicFramePr>
        <p:xfrm>
          <a:off x="6362963" y="2251206"/>
          <a:ext cx="4016375" cy="731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1" name="Equation" r:id="rId3" imgW="2158920" imgH="393480" progId="Equation.DSMT4">
                  <p:embed/>
                </p:oleObj>
              </mc:Choice>
              <mc:Fallback>
                <p:oleObj name="Equation" r:id="rId3" imgW="2158920" imgH="393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362963" y="2251206"/>
                        <a:ext cx="4016375" cy="7318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" name="物件 57">
            <a:extLst>
              <a:ext uri="{FF2B5EF4-FFF2-40B4-BE49-F238E27FC236}">
                <a16:creationId xmlns:a16="http://schemas.microsoft.com/office/drawing/2014/main" id="{63B13894-88B2-48CA-AF2E-FD8CA08E98C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61124451"/>
              </p:ext>
            </p:extLst>
          </p:nvPr>
        </p:nvGraphicFramePr>
        <p:xfrm>
          <a:off x="6798091" y="4162672"/>
          <a:ext cx="4284767" cy="7322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2" name="Equation" r:id="rId5" imgW="2006280" imgH="342720" progId="Equation.DSMT4">
                  <p:embed/>
                </p:oleObj>
              </mc:Choice>
              <mc:Fallback>
                <p:oleObj name="Equation" r:id="rId5" imgW="200628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798091" y="4162672"/>
                        <a:ext cx="4284767" cy="73220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" name="物件 59">
            <a:extLst>
              <a:ext uri="{FF2B5EF4-FFF2-40B4-BE49-F238E27FC236}">
                <a16:creationId xmlns:a16="http://schemas.microsoft.com/office/drawing/2014/main" id="{BEA3C260-D3F4-4C63-979B-8E8D78E393E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54027074"/>
              </p:ext>
            </p:extLst>
          </p:nvPr>
        </p:nvGraphicFramePr>
        <p:xfrm>
          <a:off x="6399748" y="4925904"/>
          <a:ext cx="286407" cy="4296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3" name="Equation" r:id="rId7" imgW="152280" imgH="228600" progId="Equation.DSMT4">
                  <p:embed/>
                </p:oleObj>
              </mc:Choice>
              <mc:Fallback>
                <p:oleObj name="Equation" r:id="rId7" imgW="15228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399748" y="4925904"/>
                        <a:ext cx="286407" cy="42961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" name="物件 60">
            <a:extLst>
              <a:ext uri="{FF2B5EF4-FFF2-40B4-BE49-F238E27FC236}">
                <a16:creationId xmlns:a16="http://schemas.microsoft.com/office/drawing/2014/main" id="{DBD6411C-E50B-47EF-A72A-97B4F36C807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97023243"/>
              </p:ext>
            </p:extLst>
          </p:nvPr>
        </p:nvGraphicFramePr>
        <p:xfrm>
          <a:off x="766774" y="1244189"/>
          <a:ext cx="336813" cy="3980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4" name="Equation" r:id="rId9" imgW="139680" imgH="164880" progId="Equation.DSMT4">
                  <p:embed/>
                </p:oleObj>
              </mc:Choice>
              <mc:Fallback>
                <p:oleObj name="Equation" r:id="rId9" imgW="139680" imgH="164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766774" y="1244189"/>
                        <a:ext cx="336813" cy="39805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880511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86CA095-9913-4DF7-A018-78E3E075B8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0"/>
            <a:ext cx="10515600" cy="1325563"/>
          </a:xfrm>
        </p:spPr>
        <p:txBody>
          <a:bodyPr/>
          <a:lstStyle/>
          <a:p>
            <a:r>
              <a:rPr lang="zh-TW" altLang="en-US" dirty="0"/>
              <a:t>多重特徵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7CCA3C4-26E6-4B8E-BBC0-729E4B532A52}"/>
              </a:ext>
            </a:extLst>
          </p:cNvPr>
          <p:cNvSpPr/>
          <p:nvPr/>
        </p:nvSpPr>
        <p:spPr>
          <a:xfrm rot="150421">
            <a:off x="-243129" y="6165859"/>
            <a:ext cx="12678257" cy="1122927"/>
          </a:xfrm>
          <a:prstGeom prst="rect">
            <a:avLst/>
          </a:prstGeom>
          <a:solidFill>
            <a:srgbClr val="C2DEE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7" name="物件 6">
            <a:extLst>
              <a:ext uri="{FF2B5EF4-FFF2-40B4-BE49-F238E27FC236}">
                <a16:creationId xmlns:a16="http://schemas.microsoft.com/office/drawing/2014/main" id="{6CE445B3-05CB-488E-9B60-AA39708D043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67734277"/>
              </p:ext>
            </p:extLst>
          </p:nvPr>
        </p:nvGraphicFramePr>
        <p:xfrm>
          <a:off x="4964221" y="310909"/>
          <a:ext cx="6057819" cy="9692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38" name="Equation" r:id="rId3" imgW="2222280" imgH="355320" progId="Equation.DSMT4">
                  <p:embed/>
                </p:oleObj>
              </mc:Choice>
              <mc:Fallback>
                <p:oleObj name="Equation" r:id="rId3" imgW="2222280" imgH="355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964221" y="310909"/>
                        <a:ext cx="6057819" cy="96925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矩形: 圓角 7">
            <a:extLst>
              <a:ext uri="{FF2B5EF4-FFF2-40B4-BE49-F238E27FC236}">
                <a16:creationId xmlns:a16="http://schemas.microsoft.com/office/drawing/2014/main" id="{7F7876EE-678A-4047-8459-0E04A66F6FED}"/>
              </a:ext>
            </a:extLst>
          </p:cNvPr>
          <p:cNvSpPr/>
          <p:nvPr/>
        </p:nvSpPr>
        <p:spPr>
          <a:xfrm>
            <a:off x="9579128" y="2112579"/>
            <a:ext cx="618009" cy="42251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x1</a:t>
            </a:r>
            <a:endParaRPr lang="zh-TW" altLang="en-US" dirty="0"/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9592600F-B8DA-4168-9898-9A7ECE849D49}"/>
              </a:ext>
            </a:extLst>
          </p:cNvPr>
          <p:cNvSpPr/>
          <p:nvPr/>
        </p:nvSpPr>
        <p:spPr>
          <a:xfrm>
            <a:off x="9579127" y="3789587"/>
            <a:ext cx="618009" cy="42251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x2</a:t>
            </a:r>
            <a:endParaRPr lang="zh-TW" altLang="en-US" dirty="0"/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A5623279-762A-405C-81CE-5BBFD1CFCFE0}"/>
              </a:ext>
            </a:extLst>
          </p:cNvPr>
          <p:cNvSpPr/>
          <p:nvPr/>
        </p:nvSpPr>
        <p:spPr>
          <a:xfrm>
            <a:off x="7409793" y="2112579"/>
            <a:ext cx="529722" cy="422516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+</a:t>
            </a:r>
            <a:endParaRPr lang="zh-TW" altLang="en-US" dirty="0"/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1CFB1672-DC28-4A46-AF17-B22E488C7BFA}"/>
              </a:ext>
            </a:extLst>
          </p:cNvPr>
          <p:cNvSpPr/>
          <p:nvPr/>
        </p:nvSpPr>
        <p:spPr>
          <a:xfrm>
            <a:off x="7397181" y="3789587"/>
            <a:ext cx="529722" cy="422516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+</a:t>
            </a:r>
            <a:endParaRPr lang="zh-TW" altLang="en-US" dirty="0"/>
          </a:p>
        </p:txBody>
      </p:sp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3958903A-1A0A-4E2E-AB6C-48028ABDA8CE}"/>
              </a:ext>
            </a:extLst>
          </p:cNvPr>
          <p:cNvCxnSpPr>
            <a:stCxn id="8" idx="1"/>
            <a:endCxn id="9" idx="3"/>
          </p:cNvCxnSpPr>
          <p:nvPr/>
        </p:nvCxnSpPr>
        <p:spPr>
          <a:xfrm flipH="1">
            <a:off x="7939515" y="2323837"/>
            <a:ext cx="1639613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單箭頭接點 14">
            <a:extLst>
              <a:ext uri="{FF2B5EF4-FFF2-40B4-BE49-F238E27FC236}">
                <a16:creationId xmlns:a16="http://schemas.microsoft.com/office/drawing/2014/main" id="{08807D2A-8098-499D-B4C2-62E3A35C0600}"/>
              </a:ext>
            </a:extLst>
          </p:cNvPr>
          <p:cNvCxnSpPr>
            <a:cxnSpLocks/>
            <a:stCxn id="8" idx="1"/>
            <a:endCxn id="12" idx="3"/>
          </p:cNvCxnSpPr>
          <p:nvPr/>
        </p:nvCxnSpPr>
        <p:spPr>
          <a:xfrm flipH="1">
            <a:off x="7926903" y="2323837"/>
            <a:ext cx="1652225" cy="167700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FC1220E2-C6D9-461B-BF5C-DE2DCBE24A1D}"/>
              </a:ext>
            </a:extLst>
          </p:cNvPr>
          <p:cNvCxnSpPr/>
          <p:nvPr/>
        </p:nvCxnSpPr>
        <p:spPr>
          <a:xfrm flipH="1">
            <a:off x="7939515" y="4000845"/>
            <a:ext cx="1639613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DE2F5E4F-C045-49D5-89F1-EC702A7297F5}"/>
              </a:ext>
            </a:extLst>
          </p:cNvPr>
          <p:cNvCxnSpPr>
            <a:cxnSpLocks/>
            <a:stCxn id="10" idx="1"/>
            <a:endCxn id="9" idx="3"/>
          </p:cNvCxnSpPr>
          <p:nvPr/>
        </p:nvCxnSpPr>
        <p:spPr>
          <a:xfrm flipH="1" flipV="1">
            <a:off x="7939515" y="2323837"/>
            <a:ext cx="1639612" cy="167700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單箭頭接點 22">
            <a:extLst>
              <a:ext uri="{FF2B5EF4-FFF2-40B4-BE49-F238E27FC236}">
                <a16:creationId xmlns:a16="http://schemas.microsoft.com/office/drawing/2014/main" id="{F9807553-43C0-4FA4-9CF2-5690769472FA}"/>
              </a:ext>
            </a:extLst>
          </p:cNvPr>
          <p:cNvCxnSpPr>
            <a:cxnSpLocks/>
            <a:endCxn id="9" idx="0"/>
          </p:cNvCxnSpPr>
          <p:nvPr/>
        </p:nvCxnSpPr>
        <p:spPr>
          <a:xfrm>
            <a:off x="7674654" y="1702676"/>
            <a:ext cx="0" cy="40990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矩形: 圓角 24">
            <a:extLst>
              <a:ext uri="{FF2B5EF4-FFF2-40B4-BE49-F238E27FC236}">
                <a16:creationId xmlns:a16="http://schemas.microsoft.com/office/drawing/2014/main" id="{E1A3A795-5BB7-4843-96B4-03B5A5B0B672}"/>
              </a:ext>
            </a:extLst>
          </p:cNvPr>
          <p:cNvSpPr/>
          <p:nvPr/>
        </p:nvSpPr>
        <p:spPr>
          <a:xfrm>
            <a:off x="7460244" y="1381059"/>
            <a:ext cx="466659" cy="30900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b1</a:t>
            </a:r>
            <a:endParaRPr lang="zh-TW" altLang="en-US" dirty="0"/>
          </a:p>
        </p:txBody>
      </p:sp>
      <p:cxnSp>
        <p:nvCxnSpPr>
          <p:cNvPr id="26" name="直線單箭頭接點 25">
            <a:extLst>
              <a:ext uri="{FF2B5EF4-FFF2-40B4-BE49-F238E27FC236}">
                <a16:creationId xmlns:a16="http://schemas.microsoft.com/office/drawing/2014/main" id="{F0B28E53-2567-497B-AAED-94AFF3F0ED9D}"/>
              </a:ext>
            </a:extLst>
          </p:cNvPr>
          <p:cNvCxnSpPr>
            <a:cxnSpLocks/>
          </p:cNvCxnSpPr>
          <p:nvPr/>
        </p:nvCxnSpPr>
        <p:spPr>
          <a:xfrm>
            <a:off x="7662042" y="3379684"/>
            <a:ext cx="0" cy="40990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矩形: 圓角 26">
            <a:extLst>
              <a:ext uri="{FF2B5EF4-FFF2-40B4-BE49-F238E27FC236}">
                <a16:creationId xmlns:a16="http://schemas.microsoft.com/office/drawing/2014/main" id="{F8D3F246-7F11-4D8C-89BE-D428A6E3A1C3}"/>
              </a:ext>
            </a:extLst>
          </p:cNvPr>
          <p:cNvSpPr/>
          <p:nvPr/>
        </p:nvSpPr>
        <p:spPr>
          <a:xfrm>
            <a:off x="7412959" y="3059326"/>
            <a:ext cx="466659" cy="30900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b1</a:t>
            </a:r>
            <a:endParaRPr lang="zh-TW" altLang="en-US" dirty="0"/>
          </a:p>
        </p:txBody>
      </p:sp>
      <p:sp>
        <p:nvSpPr>
          <p:cNvPr id="28" name="橢圓 27">
            <a:extLst>
              <a:ext uri="{FF2B5EF4-FFF2-40B4-BE49-F238E27FC236}">
                <a16:creationId xmlns:a16="http://schemas.microsoft.com/office/drawing/2014/main" id="{E41D11CC-E550-4A66-AEBE-43EEAA8A980D}"/>
              </a:ext>
            </a:extLst>
          </p:cNvPr>
          <p:cNvSpPr/>
          <p:nvPr/>
        </p:nvSpPr>
        <p:spPr>
          <a:xfrm>
            <a:off x="7119706" y="1208897"/>
            <a:ext cx="1135114" cy="1623848"/>
          </a:xfrm>
          <a:prstGeom prst="ellipse">
            <a:avLst/>
          </a:prstGeom>
          <a:noFill/>
          <a:ln w="381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9" name="橢圓 28">
            <a:extLst>
              <a:ext uri="{FF2B5EF4-FFF2-40B4-BE49-F238E27FC236}">
                <a16:creationId xmlns:a16="http://schemas.microsoft.com/office/drawing/2014/main" id="{3368B1A0-3E5C-41D0-84A9-FFFCCF473023}"/>
              </a:ext>
            </a:extLst>
          </p:cNvPr>
          <p:cNvSpPr/>
          <p:nvPr/>
        </p:nvSpPr>
        <p:spPr>
          <a:xfrm>
            <a:off x="7078731" y="2888241"/>
            <a:ext cx="1135114" cy="1623848"/>
          </a:xfrm>
          <a:prstGeom prst="ellipse">
            <a:avLst/>
          </a:prstGeom>
          <a:noFill/>
          <a:ln w="381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3787C800-F967-449E-87A4-D4640AF209F6}"/>
              </a:ext>
            </a:extLst>
          </p:cNvPr>
          <p:cNvSpPr txBox="1"/>
          <p:nvPr/>
        </p:nvSpPr>
        <p:spPr>
          <a:xfrm>
            <a:off x="8187047" y="1285811"/>
            <a:ext cx="9172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sigmoid</a:t>
            </a:r>
            <a:endParaRPr lang="zh-TW" altLang="en-US" dirty="0"/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21578A1F-5AF6-4B21-8742-EF4F5D9A1F31}"/>
              </a:ext>
            </a:extLst>
          </p:cNvPr>
          <p:cNvSpPr txBox="1"/>
          <p:nvPr/>
        </p:nvSpPr>
        <p:spPr>
          <a:xfrm>
            <a:off x="7979246" y="4310247"/>
            <a:ext cx="9172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sigmoid</a:t>
            </a:r>
            <a:endParaRPr lang="zh-TW" altLang="en-US" dirty="0"/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8159D8E2-153A-4846-965B-337CD0B76825}"/>
              </a:ext>
            </a:extLst>
          </p:cNvPr>
          <p:cNvSpPr txBox="1"/>
          <p:nvPr/>
        </p:nvSpPr>
        <p:spPr>
          <a:xfrm>
            <a:off x="8549392" y="2005880"/>
            <a:ext cx="5838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w11</a:t>
            </a:r>
            <a:endParaRPr lang="zh-TW" altLang="en-US" dirty="0"/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FC30E2D0-3EBF-4FAE-9B5B-EFFDAE94D3BD}"/>
              </a:ext>
            </a:extLst>
          </p:cNvPr>
          <p:cNvSpPr txBox="1"/>
          <p:nvPr/>
        </p:nvSpPr>
        <p:spPr>
          <a:xfrm>
            <a:off x="9062017" y="2628537"/>
            <a:ext cx="5838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w21</a:t>
            </a:r>
            <a:endParaRPr lang="zh-TW" altLang="en-US" dirty="0"/>
          </a:p>
        </p:txBody>
      </p:sp>
      <p:sp>
        <p:nvSpPr>
          <p:cNvPr id="34" name="文字方塊 33">
            <a:extLst>
              <a:ext uri="{FF2B5EF4-FFF2-40B4-BE49-F238E27FC236}">
                <a16:creationId xmlns:a16="http://schemas.microsoft.com/office/drawing/2014/main" id="{61B988F4-584A-488B-A603-68F92E37521A}"/>
              </a:ext>
            </a:extLst>
          </p:cNvPr>
          <p:cNvSpPr txBox="1"/>
          <p:nvPr/>
        </p:nvSpPr>
        <p:spPr>
          <a:xfrm>
            <a:off x="9133206" y="3294561"/>
            <a:ext cx="5838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w12</a:t>
            </a:r>
            <a:endParaRPr lang="zh-TW" altLang="en-US" dirty="0"/>
          </a:p>
        </p:txBody>
      </p:sp>
      <p:sp>
        <p:nvSpPr>
          <p:cNvPr id="35" name="文字方塊 34">
            <a:extLst>
              <a:ext uri="{FF2B5EF4-FFF2-40B4-BE49-F238E27FC236}">
                <a16:creationId xmlns:a16="http://schemas.microsoft.com/office/drawing/2014/main" id="{732118DE-8FD7-4FC1-95AC-44CAB98F0A1B}"/>
              </a:ext>
            </a:extLst>
          </p:cNvPr>
          <p:cNvSpPr txBox="1"/>
          <p:nvPr/>
        </p:nvSpPr>
        <p:spPr>
          <a:xfrm>
            <a:off x="8463087" y="3708123"/>
            <a:ext cx="5838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w22</a:t>
            </a:r>
            <a:endParaRPr lang="zh-TW" altLang="en-US" dirty="0"/>
          </a:p>
        </p:txBody>
      </p:sp>
      <p:cxnSp>
        <p:nvCxnSpPr>
          <p:cNvPr id="38" name="直線單箭頭接點 37">
            <a:extLst>
              <a:ext uri="{FF2B5EF4-FFF2-40B4-BE49-F238E27FC236}">
                <a16:creationId xmlns:a16="http://schemas.microsoft.com/office/drawing/2014/main" id="{1AF3DB88-3FF8-4A94-98F9-6FD88DC3DF1A}"/>
              </a:ext>
            </a:extLst>
          </p:cNvPr>
          <p:cNvCxnSpPr>
            <a:cxnSpLocks/>
          </p:cNvCxnSpPr>
          <p:nvPr/>
        </p:nvCxnSpPr>
        <p:spPr>
          <a:xfrm flipH="1">
            <a:off x="5101721" y="2005880"/>
            <a:ext cx="2017986" cy="62265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線單箭頭接點 38">
            <a:extLst>
              <a:ext uri="{FF2B5EF4-FFF2-40B4-BE49-F238E27FC236}">
                <a16:creationId xmlns:a16="http://schemas.microsoft.com/office/drawing/2014/main" id="{48A117F9-C9B0-4D07-BC47-9C36C0EDB746}"/>
              </a:ext>
            </a:extLst>
          </p:cNvPr>
          <p:cNvCxnSpPr>
            <a:cxnSpLocks/>
          </p:cNvCxnSpPr>
          <p:nvPr/>
        </p:nvCxnSpPr>
        <p:spPr>
          <a:xfrm flipH="1" flipV="1">
            <a:off x="5101721" y="2813203"/>
            <a:ext cx="1977011" cy="89492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矩形: 圓角 41">
            <a:extLst>
              <a:ext uri="{FF2B5EF4-FFF2-40B4-BE49-F238E27FC236}">
                <a16:creationId xmlns:a16="http://schemas.microsoft.com/office/drawing/2014/main" id="{64E3ED9F-12FA-4D5A-BE68-11773DF40722}"/>
              </a:ext>
            </a:extLst>
          </p:cNvPr>
          <p:cNvSpPr/>
          <p:nvPr/>
        </p:nvSpPr>
        <p:spPr>
          <a:xfrm>
            <a:off x="4565693" y="2553435"/>
            <a:ext cx="529722" cy="422516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+</a:t>
            </a:r>
            <a:endParaRPr lang="zh-TW" altLang="en-US" dirty="0"/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3B142687-6C07-42BE-A59A-FCD4303684F7}"/>
              </a:ext>
            </a:extLst>
          </p:cNvPr>
          <p:cNvSpPr txBox="1"/>
          <p:nvPr/>
        </p:nvSpPr>
        <p:spPr>
          <a:xfrm>
            <a:off x="5759902" y="1884717"/>
            <a:ext cx="399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c1</a:t>
            </a:r>
            <a:endParaRPr lang="zh-TW" altLang="en-US" dirty="0"/>
          </a:p>
        </p:txBody>
      </p:sp>
      <p:sp>
        <p:nvSpPr>
          <p:cNvPr id="45" name="文字方塊 44">
            <a:extLst>
              <a:ext uri="{FF2B5EF4-FFF2-40B4-BE49-F238E27FC236}">
                <a16:creationId xmlns:a16="http://schemas.microsoft.com/office/drawing/2014/main" id="{25BBB9EF-32D4-45E2-829C-28A5274E9667}"/>
              </a:ext>
            </a:extLst>
          </p:cNvPr>
          <p:cNvSpPr txBox="1"/>
          <p:nvPr/>
        </p:nvSpPr>
        <p:spPr>
          <a:xfrm>
            <a:off x="5743852" y="2790545"/>
            <a:ext cx="399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c2</a:t>
            </a:r>
            <a:endParaRPr lang="zh-TW" altLang="en-US" dirty="0"/>
          </a:p>
        </p:txBody>
      </p:sp>
      <p:cxnSp>
        <p:nvCxnSpPr>
          <p:cNvPr id="46" name="直線單箭頭接點 45">
            <a:extLst>
              <a:ext uri="{FF2B5EF4-FFF2-40B4-BE49-F238E27FC236}">
                <a16:creationId xmlns:a16="http://schemas.microsoft.com/office/drawing/2014/main" id="{61DE02E8-0C51-4676-B55E-7CF2CC8EBD77}"/>
              </a:ext>
            </a:extLst>
          </p:cNvPr>
          <p:cNvCxnSpPr>
            <a:cxnSpLocks/>
          </p:cNvCxnSpPr>
          <p:nvPr/>
        </p:nvCxnSpPr>
        <p:spPr>
          <a:xfrm flipV="1">
            <a:off x="4830554" y="2975211"/>
            <a:ext cx="0" cy="53938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矩形: 圓角 47">
            <a:extLst>
              <a:ext uri="{FF2B5EF4-FFF2-40B4-BE49-F238E27FC236}">
                <a16:creationId xmlns:a16="http://schemas.microsoft.com/office/drawing/2014/main" id="{8FD29668-808C-4969-8709-236BA3A05951}"/>
              </a:ext>
            </a:extLst>
          </p:cNvPr>
          <p:cNvSpPr/>
          <p:nvPr/>
        </p:nvSpPr>
        <p:spPr>
          <a:xfrm>
            <a:off x="4619149" y="3500172"/>
            <a:ext cx="466659" cy="30900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b</a:t>
            </a:r>
            <a:endParaRPr lang="zh-TW" altLang="en-US" dirty="0"/>
          </a:p>
        </p:txBody>
      </p:sp>
      <p:cxnSp>
        <p:nvCxnSpPr>
          <p:cNvPr id="51" name="直線單箭頭接點 50">
            <a:extLst>
              <a:ext uri="{FF2B5EF4-FFF2-40B4-BE49-F238E27FC236}">
                <a16:creationId xmlns:a16="http://schemas.microsoft.com/office/drawing/2014/main" id="{28B669E4-1899-4579-A179-76958A40FB83}"/>
              </a:ext>
            </a:extLst>
          </p:cNvPr>
          <p:cNvCxnSpPr>
            <a:cxnSpLocks/>
          </p:cNvCxnSpPr>
          <p:nvPr/>
        </p:nvCxnSpPr>
        <p:spPr>
          <a:xfrm flipH="1" flipV="1">
            <a:off x="3758496" y="2764043"/>
            <a:ext cx="800891" cy="349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矩形: 圓角 53">
            <a:extLst>
              <a:ext uri="{FF2B5EF4-FFF2-40B4-BE49-F238E27FC236}">
                <a16:creationId xmlns:a16="http://schemas.microsoft.com/office/drawing/2014/main" id="{28FF1A9D-38E9-4161-8871-3CDA0C4E00C6}"/>
              </a:ext>
            </a:extLst>
          </p:cNvPr>
          <p:cNvSpPr/>
          <p:nvPr/>
        </p:nvSpPr>
        <p:spPr>
          <a:xfrm>
            <a:off x="2859854" y="2423738"/>
            <a:ext cx="892336" cy="680610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y</a:t>
            </a:r>
            <a:endParaRPr lang="zh-TW" altLang="en-US" dirty="0"/>
          </a:p>
        </p:txBody>
      </p:sp>
      <p:sp>
        <p:nvSpPr>
          <p:cNvPr id="55" name="矩形: 圓角 54">
            <a:extLst>
              <a:ext uri="{FF2B5EF4-FFF2-40B4-BE49-F238E27FC236}">
                <a16:creationId xmlns:a16="http://schemas.microsoft.com/office/drawing/2014/main" id="{8FBCB335-05F3-4268-99DA-C0271F1DC2D7}"/>
              </a:ext>
            </a:extLst>
          </p:cNvPr>
          <p:cNvSpPr/>
          <p:nvPr/>
        </p:nvSpPr>
        <p:spPr>
          <a:xfrm>
            <a:off x="3010193" y="5321761"/>
            <a:ext cx="414152" cy="375680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y</a:t>
            </a:r>
            <a:endParaRPr lang="zh-TW" altLang="en-US" dirty="0"/>
          </a:p>
        </p:txBody>
      </p:sp>
      <p:sp>
        <p:nvSpPr>
          <p:cNvPr id="56" name="文字方塊 55">
            <a:extLst>
              <a:ext uri="{FF2B5EF4-FFF2-40B4-BE49-F238E27FC236}">
                <a16:creationId xmlns:a16="http://schemas.microsoft.com/office/drawing/2014/main" id="{07DC9292-02A3-4278-978A-1A1C4CDDC01C}"/>
              </a:ext>
            </a:extLst>
          </p:cNvPr>
          <p:cNvSpPr txBox="1"/>
          <p:nvPr/>
        </p:nvSpPr>
        <p:spPr>
          <a:xfrm>
            <a:off x="3414819" y="5242493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/>
              <a:t>=</a:t>
            </a:r>
            <a:endParaRPr lang="zh-TW" altLang="en-US" sz="2400" dirty="0"/>
          </a:p>
        </p:txBody>
      </p:sp>
      <p:sp>
        <p:nvSpPr>
          <p:cNvPr id="57" name="矩形: 圓角 56">
            <a:extLst>
              <a:ext uri="{FF2B5EF4-FFF2-40B4-BE49-F238E27FC236}">
                <a16:creationId xmlns:a16="http://schemas.microsoft.com/office/drawing/2014/main" id="{F44AE8E4-CEF2-4B6F-99E1-D072C32F680F}"/>
              </a:ext>
            </a:extLst>
          </p:cNvPr>
          <p:cNvSpPr/>
          <p:nvPr/>
        </p:nvSpPr>
        <p:spPr>
          <a:xfrm>
            <a:off x="3793191" y="5252599"/>
            <a:ext cx="399369" cy="38839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58" name="文字方塊 57">
            <a:extLst>
              <a:ext uri="{FF2B5EF4-FFF2-40B4-BE49-F238E27FC236}">
                <a16:creationId xmlns:a16="http://schemas.microsoft.com/office/drawing/2014/main" id="{1D3D9C69-4E45-48A2-895B-773193C6CF38}"/>
              </a:ext>
            </a:extLst>
          </p:cNvPr>
          <p:cNvSpPr txBox="1"/>
          <p:nvPr/>
        </p:nvSpPr>
        <p:spPr>
          <a:xfrm>
            <a:off x="4390110" y="5235776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/>
              <a:t>+</a:t>
            </a:r>
            <a:endParaRPr lang="zh-TW" altLang="en-US" sz="2400" dirty="0"/>
          </a:p>
        </p:txBody>
      </p:sp>
      <p:sp>
        <p:nvSpPr>
          <p:cNvPr id="59" name="矩形: 圓角 58">
            <a:extLst>
              <a:ext uri="{FF2B5EF4-FFF2-40B4-BE49-F238E27FC236}">
                <a16:creationId xmlns:a16="http://schemas.microsoft.com/office/drawing/2014/main" id="{C410451B-065E-452D-99CA-287241488997}"/>
              </a:ext>
            </a:extLst>
          </p:cNvPr>
          <p:cNvSpPr/>
          <p:nvPr/>
        </p:nvSpPr>
        <p:spPr>
          <a:xfrm>
            <a:off x="4761316" y="5267345"/>
            <a:ext cx="1003198" cy="435256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err="1"/>
              <a:t>cT</a:t>
            </a:r>
            <a:endParaRPr lang="zh-TW" altLang="en-US" dirty="0"/>
          </a:p>
        </p:txBody>
      </p:sp>
      <p:graphicFrame>
        <p:nvGraphicFramePr>
          <p:cNvPr id="60" name="物件 59">
            <a:extLst>
              <a:ext uri="{FF2B5EF4-FFF2-40B4-BE49-F238E27FC236}">
                <a16:creationId xmlns:a16="http://schemas.microsoft.com/office/drawing/2014/main" id="{AE7AA0D8-87FB-4D1C-97E7-8290A9827EC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88738105"/>
              </p:ext>
            </p:extLst>
          </p:nvPr>
        </p:nvGraphicFramePr>
        <p:xfrm>
          <a:off x="5756897" y="5313538"/>
          <a:ext cx="376291" cy="3449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39" name="Equation" r:id="rId5" imgW="152280" imgH="139680" progId="Equation.DSMT4">
                  <p:embed/>
                </p:oleObj>
              </mc:Choice>
              <mc:Fallback>
                <p:oleObj name="Equation" r:id="rId5" imgW="152280" imgH="1396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756897" y="5313538"/>
                        <a:ext cx="376291" cy="34493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" name="文字方塊 60">
            <a:extLst>
              <a:ext uri="{FF2B5EF4-FFF2-40B4-BE49-F238E27FC236}">
                <a16:creationId xmlns:a16="http://schemas.microsoft.com/office/drawing/2014/main" id="{AA81EE02-4818-4B3C-A557-5D53314A21A7}"/>
              </a:ext>
            </a:extLst>
          </p:cNvPr>
          <p:cNvSpPr txBox="1"/>
          <p:nvPr/>
        </p:nvSpPr>
        <p:spPr>
          <a:xfrm>
            <a:off x="6004500" y="5238222"/>
            <a:ext cx="2776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/>
              <a:t>(</a:t>
            </a:r>
            <a:endParaRPr lang="zh-TW" altLang="en-US" sz="2400" dirty="0"/>
          </a:p>
        </p:txBody>
      </p:sp>
      <p:sp>
        <p:nvSpPr>
          <p:cNvPr id="62" name="矩形: 圓角 61">
            <a:extLst>
              <a:ext uri="{FF2B5EF4-FFF2-40B4-BE49-F238E27FC236}">
                <a16:creationId xmlns:a16="http://schemas.microsoft.com/office/drawing/2014/main" id="{410D6C97-7968-479D-814E-483629E13DC2}"/>
              </a:ext>
            </a:extLst>
          </p:cNvPr>
          <p:cNvSpPr/>
          <p:nvPr/>
        </p:nvSpPr>
        <p:spPr>
          <a:xfrm>
            <a:off x="6332613" y="4972310"/>
            <a:ext cx="424610" cy="109493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bi</a:t>
            </a:r>
            <a:endParaRPr lang="zh-TW" altLang="en-US" dirty="0"/>
          </a:p>
        </p:txBody>
      </p:sp>
      <p:sp>
        <p:nvSpPr>
          <p:cNvPr id="64" name="文字方塊 63">
            <a:extLst>
              <a:ext uri="{FF2B5EF4-FFF2-40B4-BE49-F238E27FC236}">
                <a16:creationId xmlns:a16="http://schemas.microsoft.com/office/drawing/2014/main" id="{14C17494-0253-43C6-87E0-A5DD3243FCCA}"/>
              </a:ext>
            </a:extLst>
          </p:cNvPr>
          <p:cNvSpPr txBox="1"/>
          <p:nvPr/>
        </p:nvSpPr>
        <p:spPr>
          <a:xfrm>
            <a:off x="6857856" y="5246480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/>
              <a:t>+</a:t>
            </a:r>
            <a:endParaRPr lang="zh-TW" altLang="en-US" sz="2400" dirty="0"/>
          </a:p>
        </p:txBody>
      </p:sp>
      <p:sp>
        <p:nvSpPr>
          <p:cNvPr id="65" name="矩形: 圓角 64">
            <a:extLst>
              <a:ext uri="{FF2B5EF4-FFF2-40B4-BE49-F238E27FC236}">
                <a16:creationId xmlns:a16="http://schemas.microsoft.com/office/drawing/2014/main" id="{5EA759A8-F705-49FF-9077-C3D445B73590}"/>
              </a:ext>
            </a:extLst>
          </p:cNvPr>
          <p:cNvSpPr/>
          <p:nvPr/>
        </p:nvSpPr>
        <p:spPr>
          <a:xfrm>
            <a:off x="7196410" y="4910219"/>
            <a:ext cx="1398950" cy="122125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w</a:t>
            </a:r>
            <a:endParaRPr lang="zh-TW" altLang="en-US" dirty="0"/>
          </a:p>
        </p:txBody>
      </p:sp>
      <p:sp>
        <p:nvSpPr>
          <p:cNvPr id="66" name="矩形: 圓角 65">
            <a:extLst>
              <a:ext uri="{FF2B5EF4-FFF2-40B4-BE49-F238E27FC236}">
                <a16:creationId xmlns:a16="http://schemas.microsoft.com/office/drawing/2014/main" id="{2D061CBA-B14F-47B7-8C10-4F35F104C781}"/>
              </a:ext>
            </a:extLst>
          </p:cNvPr>
          <p:cNvSpPr/>
          <p:nvPr/>
        </p:nvSpPr>
        <p:spPr>
          <a:xfrm>
            <a:off x="8705064" y="4985842"/>
            <a:ext cx="424610" cy="109493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err="1"/>
              <a:t>xj</a:t>
            </a:r>
            <a:endParaRPr lang="zh-TW" altLang="en-US" dirty="0"/>
          </a:p>
        </p:txBody>
      </p:sp>
      <p:sp>
        <p:nvSpPr>
          <p:cNvPr id="67" name="文字方塊 66">
            <a:extLst>
              <a:ext uri="{FF2B5EF4-FFF2-40B4-BE49-F238E27FC236}">
                <a16:creationId xmlns:a16="http://schemas.microsoft.com/office/drawing/2014/main" id="{8C2A529F-7395-47EA-8D19-EBCE01C2CFFB}"/>
              </a:ext>
            </a:extLst>
          </p:cNvPr>
          <p:cNvSpPr txBox="1"/>
          <p:nvPr/>
        </p:nvSpPr>
        <p:spPr>
          <a:xfrm>
            <a:off x="9181807" y="5289526"/>
            <a:ext cx="2776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/>
              <a:t>)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9625922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86CA095-9913-4DF7-A018-78E3E075B8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555" y="-11110"/>
            <a:ext cx="10515600" cy="1325563"/>
          </a:xfrm>
        </p:spPr>
        <p:txBody>
          <a:bodyPr/>
          <a:lstStyle/>
          <a:p>
            <a:r>
              <a:rPr lang="zh-TW" altLang="en-US" dirty="0"/>
              <a:t>深度神經網路</a:t>
            </a:r>
            <a:r>
              <a:rPr lang="en-US" altLang="zh-TW" dirty="0"/>
              <a:t>DNN</a:t>
            </a:r>
            <a:endParaRPr lang="zh-TW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7CCA3C4-26E6-4B8E-BBC0-729E4B532A52}"/>
              </a:ext>
            </a:extLst>
          </p:cNvPr>
          <p:cNvSpPr/>
          <p:nvPr/>
        </p:nvSpPr>
        <p:spPr>
          <a:xfrm rot="150421">
            <a:off x="-243129" y="6165859"/>
            <a:ext cx="12678257" cy="1122927"/>
          </a:xfrm>
          <a:prstGeom prst="rect">
            <a:avLst/>
          </a:prstGeom>
          <a:solidFill>
            <a:srgbClr val="C2DEE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7" name="物件 6">
            <a:extLst>
              <a:ext uri="{FF2B5EF4-FFF2-40B4-BE49-F238E27FC236}">
                <a16:creationId xmlns:a16="http://schemas.microsoft.com/office/drawing/2014/main" id="{6CE445B3-05CB-488E-9B60-AA39708D043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99012130"/>
              </p:ext>
            </p:extLst>
          </p:nvPr>
        </p:nvGraphicFramePr>
        <p:xfrm>
          <a:off x="5500056" y="292737"/>
          <a:ext cx="6057819" cy="9692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3" name="Equation" r:id="rId3" imgW="2222280" imgH="355320" progId="Equation.DSMT4">
                  <p:embed/>
                </p:oleObj>
              </mc:Choice>
              <mc:Fallback>
                <p:oleObj name="Equation" r:id="rId3" imgW="2222280" imgH="355320" progId="Equation.DSMT4">
                  <p:embed/>
                  <p:pic>
                    <p:nvPicPr>
                      <p:cNvPr id="7" name="物件 6">
                        <a:extLst>
                          <a:ext uri="{FF2B5EF4-FFF2-40B4-BE49-F238E27FC236}">
                            <a16:creationId xmlns:a16="http://schemas.microsoft.com/office/drawing/2014/main" id="{6CE445B3-05CB-488E-9B60-AA39708D043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500056" y="292737"/>
                        <a:ext cx="6057819" cy="96925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矩形: 圓角 7">
            <a:extLst>
              <a:ext uri="{FF2B5EF4-FFF2-40B4-BE49-F238E27FC236}">
                <a16:creationId xmlns:a16="http://schemas.microsoft.com/office/drawing/2014/main" id="{7F7876EE-678A-4047-8459-0E04A66F6FED}"/>
              </a:ext>
            </a:extLst>
          </p:cNvPr>
          <p:cNvSpPr/>
          <p:nvPr/>
        </p:nvSpPr>
        <p:spPr>
          <a:xfrm>
            <a:off x="9579128" y="2112579"/>
            <a:ext cx="618009" cy="42251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x1</a:t>
            </a:r>
            <a:endParaRPr lang="zh-TW" altLang="en-US" dirty="0"/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9592600F-B8DA-4168-9898-9A7ECE849D49}"/>
              </a:ext>
            </a:extLst>
          </p:cNvPr>
          <p:cNvSpPr/>
          <p:nvPr/>
        </p:nvSpPr>
        <p:spPr>
          <a:xfrm>
            <a:off x="9579127" y="3789587"/>
            <a:ext cx="618009" cy="42251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x2</a:t>
            </a:r>
            <a:endParaRPr lang="zh-TW" altLang="en-US" dirty="0"/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A5623279-762A-405C-81CE-5BBFD1CFCFE0}"/>
              </a:ext>
            </a:extLst>
          </p:cNvPr>
          <p:cNvSpPr/>
          <p:nvPr/>
        </p:nvSpPr>
        <p:spPr>
          <a:xfrm>
            <a:off x="7409793" y="2112579"/>
            <a:ext cx="529722" cy="422516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+</a:t>
            </a:r>
            <a:endParaRPr lang="zh-TW" altLang="en-US" dirty="0"/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1CFB1672-DC28-4A46-AF17-B22E488C7BFA}"/>
              </a:ext>
            </a:extLst>
          </p:cNvPr>
          <p:cNvSpPr/>
          <p:nvPr/>
        </p:nvSpPr>
        <p:spPr>
          <a:xfrm>
            <a:off x="7397181" y="3789587"/>
            <a:ext cx="529722" cy="422516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+</a:t>
            </a:r>
            <a:endParaRPr lang="zh-TW" altLang="en-US" dirty="0"/>
          </a:p>
        </p:txBody>
      </p:sp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3958903A-1A0A-4E2E-AB6C-48028ABDA8CE}"/>
              </a:ext>
            </a:extLst>
          </p:cNvPr>
          <p:cNvCxnSpPr>
            <a:stCxn id="8" idx="1"/>
            <a:endCxn id="9" idx="3"/>
          </p:cNvCxnSpPr>
          <p:nvPr/>
        </p:nvCxnSpPr>
        <p:spPr>
          <a:xfrm flipH="1">
            <a:off x="7939515" y="2323837"/>
            <a:ext cx="1639613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單箭頭接點 14">
            <a:extLst>
              <a:ext uri="{FF2B5EF4-FFF2-40B4-BE49-F238E27FC236}">
                <a16:creationId xmlns:a16="http://schemas.microsoft.com/office/drawing/2014/main" id="{08807D2A-8098-499D-B4C2-62E3A35C0600}"/>
              </a:ext>
            </a:extLst>
          </p:cNvPr>
          <p:cNvCxnSpPr>
            <a:cxnSpLocks/>
            <a:stCxn id="8" idx="1"/>
            <a:endCxn id="12" idx="3"/>
          </p:cNvCxnSpPr>
          <p:nvPr/>
        </p:nvCxnSpPr>
        <p:spPr>
          <a:xfrm flipH="1">
            <a:off x="7926903" y="2323837"/>
            <a:ext cx="1652225" cy="167700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FC1220E2-C6D9-461B-BF5C-DE2DCBE24A1D}"/>
              </a:ext>
            </a:extLst>
          </p:cNvPr>
          <p:cNvCxnSpPr/>
          <p:nvPr/>
        </p:nvCxnSpPr>
        <p:spPr>
          <a:xfrm flipH="1">
            <a:off x="7939515" y="4000845"/>
            <a:ext cx="1639613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DE2F5E4F-C045-49D5-89F1-EC702A7297F5}"/>
              </a:ext>
            </a:extLst>
          </p:cNvPr>
          <p:cNvCxnSpPr>
            <a:cxnSpLocks/>
            <a:stCxn id="10" idx="1"/>
            <a:endCxn id="9" idx="3"/>
          </p:cNvCxnSpPr>
          <p:nvPr/>
        </p:nvCxnSpPr>
        <p:spPr>
          <a:xfrm flipH="1" flipV="1">
            <a:off x="7939515" y="2323837"/>
            <a:ext cx="1639612" cy="167700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單箭頭接點 22">
            <a:extLst>
              <a:ext uri="{FF2B5EF4-FFF2-40B4-BE49-F238E27FC236}">
                <a16:creationId xmlns:a16="http://schemas.microsoft.com/office/drawing/2014/main" id="{F9807553-43C0-4FA4-9CF2-5690769472FA}"/>
              </a:ext>
            </a:extLst>
          </p:cNvPr>
          <p:cNvCxnSpPr>
            <a:cxnSpLocks/>
          </p:cNvCxnSpPr>
          <p:nvPr/>
        </p:nvCxnSpPr>
        <p:spPr>
          <a:xfrm flipV="1">
            <a:off x="3658823" y="2222322"/>
            <a:ext cx="0" cy="39846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矩形: 圓角 24">
            <a:extLst>
              <a:ext uri="{FF2B5EF4-FFF2-40B4-BE49-F238E27FC236}">
                <a16:creationId xmlns:a16="http://schemas.microsoft.com/office/drawing/2014/main" id="{E1A3A795-5BB7-4843-96B4-03B5A5B0B672}"/>
              </a:ext>
            </a:extLst>
          </p:cNvPr>
          <p:cNvSpPr/>
          <p:nvPr/>
        </p:nvSpPr>
        <p:spPr>
          <a:xfrm>
            <a:off x="7460244" y="1381059"/>
            <a:ext cx="466659" cy="30900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b1</a:t>
            </a:r>
            <a:endParaRPr lang="zh-TW" altLang="en-US" dirty="0"/>
          </a:p>
        </p:txBody>
      </p:sp>
      <p:cxnSp>
        <p:nvCxnSpPr>
          <p:cNvPr id="26" name="直線單箭頭接點 25">
            <a:extLst>
              <a:ext uri="{FF2B5EF4-FFF2-40B4-BE49-F238E27FC236}">
                <a16:creationId xmlns:a16="http://schemas.microsoft.com/office/drawing/2014/main" id="{F0B28E53-2567-497B-AAED-94AFF3F0ED9D}"/>
              </a:ext>
            </a:extLst>
          </p:cNvPr>
          <p:cNvCxnSpPr>
            <a:cxnSpLocks/>
          </p:cNvCxnSpPr>
          <p:nvPr/>
        </p:nvCxnSpPr>
        <p:spPr>
          <a:xfrm>
            <a:off x="7662042" y="3379684"/>
            <a:ext cx="0" cy="40990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矩形: 圓角 26">
            <a:extLst>
              <a:ext uri="{FF2B5EF4-FFF2-40B4-BE49-F238E27FC236}">
                <a16:creationId xmlns:a16="http://schemas.microsoft.com/office/drawing/2014/main" id="{F8D3F246-7F11-4D8C-89BE-D428A6E3A1C3}"/>
              </a:ext>
            </a:extLst>
          </p:cNvPr>
          <p:cNvSpPr/>
          <p:nvPr/>
        </p:nvSpPr>
        <p:spPr>
          <a:xfrm>
            <a:off x="7412959" y="3059326"/>
            <a:ext cx="466659" cy="30900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b2</a:t>
            </a:r>
            <a:endParaRPr lang="zh-TW" altLang="en-US" dirty="0"/>
          </a:p>
        </p:txBody>
      </p:sp>
      <p:sp>
        <p:nvSpPr>
          <p:cNvPr id="28" name="橢圓 27">
            <a:extLst>
              <a:ext uri="{FF2B5EF4-FFF2-40B4-BE49-F238E27FC236}">
                <a16:creationId xmlns:a16="http://schemas.microsoft.com/office/drawing/2014/main" id="{E41D11CC-E550-4A66-AEBE-43EEAA8A980D}"/>
              </a:ext>
            </a:extLst>
          </p:cNvPr>
          <p:cNvSpPr/>
          <p:nvPr/>
        </p:nvSpPr>
        <p:spPr>
          <a:xfrm>
            <a:off x="7119706" y="1208897"/>
            <a:ext cx="1135114" cy="1623848"/>
          </a:xfrm>
          <a:prstGeom prst="ellipse">
            <a:avLst/>
          </a:prstGeom>
          <a:noFill/>
          <a:ln w="381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9" name="橢圓 28">
            <a:extLst>
              <a:ext uri="{FF2B5EF4-FFF2-40B4-BE49-F238E27FC236}">
                <a16:creationId xmlns:a16="http://schemas.microsoft.com/office/drawing/2014/main" id="{3368B1A0-3E5C-41D0-84A9-FFFCCF473023}"/>
              </a:ext>
            </a:extLst>
          </p:cNvPr>
          <p:cNvSpPr/>
          <p:nvPr/>
        </p:nvSpPr>
        <p:spPr>
          <a:xfrm>
            <a:off x="7078731" y="2888241"/>
            <a:ext cx="1135114" cy="1623848"/>
          </a:xfrm>
          <a:prstGeom prst="ellipse">
            <a:avLst/>
          </a:prstGeom>
          <a:noFill/>
          <a:ln w="381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3787C800-F967-449E-87A4-D4640AF209F6}"/>
              </a:ext>
            </a:extLst>
          </p:cNvPr>
          <p:cNvSpPr txBox="1"/>
          <p:nvPr/>
        </p:nvSpPr>
        <p:spPr>
          <a:xfrm>
            <a:off x="8187047" y="1285811"/>
            <a:ext cx="9172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sigmoid</a:t>
            </a:r>
            <a:endParaRPr lang="zh-TW" altLang="en-US" dirty="0"/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21578A1F-5AF6-4B21-8742-EF4F5D9A1F31}"/>
              </a:ext>
            </a:extLst>
          </p:cNvPr>
          <p:cNvSpPr txBox="1"/>
          <p:nvPr/>
        </p:nvSpPr>
        <p:spPr>
          <a:xfrm>
            <a:off x="7979246" y="4310247"/>
            <a:ext cx="9172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sigmoid</a:t>
            </a:r>
            <a:endParaRPr lang="zh-TW" altLang="en-US" dirty="0"/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8159D8E2-153A-4846-965B-337CD0B76825}"/>
              </a:ext>
            </a:extLst>
          </p:cNvPr>
          <p:cNvSpPr txBox="1"/>
          <p:nvPr/>
        </p:nvSpPr>
        <p:spPr>
          <a:xfrm>
            <a:off x="8549392" y="2005880"/>
            <a:ext cx="5838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w11</a:t>
            </a:r>
            <a:endParaRPr lang="zh-TW" altLang="en-US" dirty="0"/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FC30E2D0-3EBF-4FAE-9B5B-EFFDAE94D3BD}"/>
              </a:ext>
            </a:extLst>
          </p:cNvPr>
          <p:cNvSpPr txBox="1"/>
          <p:nvPr/>
        </p:nvSpPr>
        <p:spPr>
          <a:xfrm>
            <a:off x="9062017" y="2628537"/>
            <a:ext cx="5838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w21</a:t>
            </a:r>
            <a:endParaRPr lang="zh-TW" altLang="en-US" dirty="0"/>
          </a:p>
        </p:txBody>
      </p:sp>
      <p:sp>
        <p:nvSpPr>
          <p:cNvPr id="34" name="文字方塊 33">
            <a:extLst>
              <a:ext uri="{FF2B5EF4-FFF2-40B4-BE49-F238E27FC236}">
                <a16:creationId xmlns:a16="http://schemas.microsoft.com/office/drawing/2014/main" id="{61B988F4-584A-488B-A603-68F92E37521A}"/>
              </a:ext>
            </a:extLst>
          </p:cNvPr>
          <p:cNvSpPr txBox="1"/>
          <p:nvPr/>
        </p:nvSpPr>
        <p:spPr>
          <a:xfrm>
            <a:off x="9133206" y="3294561"/>
            <a:ext cx="5838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w12</a:t>
            </a:r>
            <a:endParaRPr lang="zh-TW" altLang="en-US" dirty="0"/>
          </a:p>
        </p:txBody>
      </p:sp>
      <p:sp>
        <p:nvSpPr>
          <p:cNvPr id="35" name="文字方塊 34">
            <a:extLst>
              <a:ext uri="{FF2B5EF4-FFF2-40B4-BE49-F238E27FC236}">
                <a16:creationId xmlns:a16="http://schemas.microsoft.com/office/drawing/2014/main" id="{732118DE-8FD7-4FC1-95AC-44CAB98F0A1B}"/>
              </a:ext>
            </a:extLst>
          </p:cNvPr>
          <p:cNvSpPr txBox="1"/>
          <p:nvPr/>
        </p:nvSpPr>
        <p:spPr>
          <a:xfrm>
            <a:off x="8463087" y="3708123"/>
            <a:ext cx="5838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w22</a:t>
            </a:r>
            <a:endParaRPr lang="zh-TW" altLang="en-US" dirty="0"/>
          </a:p>
        </p:txBody>
      </p:sp>
      <p:cxnSp>
        <p:nvCxnSpPr>
          <p:cNvPr id="38" name="直線單箭頭接點 37">
            <a:extLst>
              <a:ext uri="{FF2B5EF4-FFF2-40B4-BE49-F238E27FC236}">
                <a16:creationId xmlns:a16="http://schemas.microsoft.com/office/drawing/2014/main" id="{1AF3DB88-3FF8-4A94-98F9-6FD88DC3DF1A}"/>
              </a:ext>
            </a:extLst>
          </p:cNvPr>
          <p:cNvCxnSpPr>
            <a:cxnSpLocks/>
            <a:endCxn id="14" idx="3"/>
          </p:cNvCxnSpPr>
          <p:nvPr/>
        </p:nvCxnSpPr>
        <p:spPr>
          <a:xfrm flipH="1">
            <a:off x="6000572" y="2005882"/>
            <a:ext cx="1119136" cy="1396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線單箭頭接點 38">
            <a:extLst>
              <a:ext uri="{FF2B5EF4-FFF2-40B4-BE49-F238E27FC236}">
                <a16:creationId xmlns:a16="http://schemas.microsoft.com/office/drawing/2014/main" id="{48A117F9-C9B0-4D07-BC47-9C36C0EDB746}"/>
              </a:ext>
            </a:extLst>
          </p:cNvPr>
          <p:cNvCxnSpPr>
            <a:cxnSpLocks/>
          </p:cNvCxnSpPr>
          <p:nvPr/>
        </p:nvCxnSpPr>
        <p:spPr>
          <a:xfrm flipH="1">
            <a:off x="6005169" y="3708123"/>
            <a:ext cx="1073564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矩形: 圓角 41">
            <a:extLst>
              <a:ext uri="{FF2B5EF4-FFF2-40B4-BE49-F238E27FC236}">
                <a16:creationId xmlns:a16="http://schemas.microsoft.com/office/drawing/2014/main" id="{64E3ED9F-12FA-4D5A-BE68-11773DF40722}"/>
              </a:ext>
            </a:extLst>
          </p:cNvPr>
          <p:cNvSpPr/>
          <p:nvPr/>
        </p:nvSpPr>
        <p:spPr>
          <a:xfrm>
            <a:off x="1780706" y="2739206"/>
            <a:ext cx="529722" cy="422516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+</a:t>
            </a:r>
            <a:endParaRPr lang="zh-TW" altLang="en-US" dirty="0"/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3B142687-6C07-42BE-A59A-FCD4303684F7}"/>
              </a:ext>
            </a:extLst>
          </p:cNvPr>
          <p:cNvSpPr txBox="1"/>
          <p:nvPr/>
        </p:nvSpPr>
        <p:spPr>
          <a:xfrm>
            <a:off x="6327372" y="1588324"/>
            <a:ext cx="399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c1</a:t>
            </a:r>
            <a:endParaRPr lang="zh-TW" altLang="en-US" dirty="0"/>
          </a:p>
        </p:txBody>
      </p:sp>
      <p:sp>
        <p:nvSpPr>
          <p:cNvPr id="45" name="文字方塊 44">
            <a:extLst>
              <a:ext uri="{FF2B5EF4-FFF2-40B4-BE49-F238E27FC236}">
                <a16:creationId xmlns:a16="http://schemas.microsoft.com/office/drawing/2014/main" id="{25BBB9EF-32D4-45E2-829C-28A5274E9667}"/>
              </a:ext>
            </a:extLst>
          </p:cNvPr>
          <p:cNvSpPr txBox="1"/>
          <p:nvPr/>
        </p:nvSpPr>
        <p:spPr>
          <a:xfrm>
            <a:off x="6410159" y="3327819"/>
            <a:ext cx="399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c2</a:t>
            </a:r>
            <a:endParaRPr lang="zh-TW" altLang="en-US" dirty="0"/>
          </a:p>
        </p:txBody>
      </p:sp>
      <p:cxnSp>
        <p:nvCxnSpPr>
          <p:cNvPr id="46" name="直線單箭頭接點 45">
            <a:extLst>
              <a:ext uri="{FF2B5EF4-FFF2-40B4-BE49-F238E27FC236}">
                <a16:creationId xmlns:a16="http://schemas.microsoft.com/office/drawing/2014/main" id="{61DE02E8-0C51-4676-B55E-7CF2CC8EBD77}"/>
              </a:ext>
            </a:extLst>
          </p:cNvPr>
          <p:cNvCxnSpPr>
            <a:cxnSpLocks/>
          </p:cNvCxnSpPr>
          <p:nvPr/>
        </p:nvCxnSpPr>
        <p:spPr>
          <a:xfrm flipV="1">
            <a:off x="2045567" y="3161722"/>
            <a:ext cx="0" cy="53938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矩形: 圓角 47">
            <a:extLst>
              <a:ext uri="{FF2B5EF4-FFF2-40B4-BE49-F238E27FC236}">
                <a16:creationId xmlns:a16="http://schemas.microsoft.com/office/drawing/2014/main" id="{8FD29668-808C-4969-8709-236BA3A05951}"/>
              </a:ext>
            </a:extLst>
          </p:cNvPr>
          <p:cNvSpPr/>
          <p:nvPr/>
        </p:nvSpPr>
        <p:spPr>
          <a:xfrm>
            <a:off x="1801271" y="3684526"/>
            <a:ext cx="466659" cy="30900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b</a:t>
            </a:r>
            <a:endParaRPr lang="zh-TW" altLang="en-US" dirty="0"/>
          </a:p>
        </p:txBody>
      </p:sp>
      <p:cxnSp>
        <p:nvCxnSpPr>
          <p:cNvPr id="51" name="直線單箭頭接點 50">
            <a:extLst>
              <a:ext uri="{FF2B5EF4-FFF2-40B4-BE49-F238E27FC236}">
                <a16:creationId xmlns:a16="http://schemas.microsoft.com/office/drawing/2014/main" id="{28B669E4-1899-4579-A179-76958A40FB83}"/>
              </a:ext>
            </a:extLst>
          </p:cNvPr>
          <p:cNvCxnSpPr>
            <a:cxnSpLocks/>
          </p:cNvCxnSpPr>
          <p:nvPr/>
        </p:nvCxnSpPr>
        <p:spPr>
          <a:xfrm flipH="1" flipV="1">
            <a:off x="1167450" y="2976580"/>
            <a:ext cx="603927" cy="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矩形: 圓角 53">
            <a:extLst>
              <a:ext uri="{FF2B5EF4-FFF2-40B4-BE49-F238E27FC236}">
                <a16:creationId xmlns:a16="http://schemas.microsoft.com/office/drawing/2014/main" id="{28FF1A9D-38E9-4161-8871-3CDA0C4E00C6}"/>
              </a:ext>
            </a:extLst>
          </p:cNvPr>
          <p:cNvSpPr/>
          <p:nvPr/>
        </p:nvSpPr>
        <p:spPr>
          <a:xfrm>
            <a:off x="291615" y="2691801"/>
            <a:ext cx="892336" cy="680610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y</a:t>
            </a:r>
            <a:endParaRPr lang="zh-TW" altLang="en-US" dirty="0"/>
          </a:p>
        </p:txBody>
      </p:sp>
      <p:sp>
        <p:nvSpPr>
          <p:cNvPr id="55" name="矩形: 圓角 54">
            <a:extLst>
              <a:ext uri="{FF2B5EF4-FFF2-40B4-BE49-F238E27FC236}">
                <a16:creationId xmlns:a16="http://schemas.microsoft.com/office/drawing/2014/main" id="{8FBCB335-05F3-4268-99DA-C0271F1DC2D7}"/>
              </a:ext>
            </a:extLst>
          </p:cNvPr>
          <p:cNvSpPr/>
          <p:nvPr/>
        </p:nvSpPr>
        <p:spPr>
          <a:xfrm>
            <a:off x="282280" y="5245716"/>
            <a:ext cx="414152" cy="375680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y</a:t>
            </a:r>
            <a:endParaRPr lang="zh-TW" altLang="en-US" dirty="0"/>
          </a:p>
        </p:txBody>
      </p:sp>
      <p:sp>
        <p:nvSpPr>
          <p:cNvPr id="56" name="文字方塊 55">
            <a:extLst>
              <a:ext uri="{FF2B5EF4-FFF2-40B4-BE49-F238E27FC236}">
                <a16:creationId xmlns:a16="http://schemas.microsoft.com/office/drawing/2014/main" id="{07DC9292-02A3-4278-978A-1A1C4CDDC01C}"/>
              </a:ext>
            </a:extLst>
          </p:cNvPr>
          <p:cNvSpPr txBox="1"/>
          <p:nvPr/>
        </p:nvSpPr>
        <p:spPr>
          <a:xfrm>
            <a:off x="686906" y="5166448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/>
              <a:t>=</a:t>
            </a:r>
            <a:endParaRPr lang="zh-TW" altLang="en-US" sz="2400" dirty="0"/>
          </a:p>
        </p:txBody>
      </p:sp>
      <p:sp>
        <p:nvSpPr>
          <p:cNvPr id="57" name="矩形: 圓角 56">
            <a:extLst>
              <a:ext uri="{FF2B5EF4-FFF2-40B4-BE49-F238E27FC236}">
                <a16:creationId xmlns:a16="http://schemas.microsoft.com/office/drawing/2014/main" id="{F44AE8E4-CEF2-4B6F-99E1-D072C32F680F}"/>
              </a:ext>
            </a:extLst>
          </p:cNvPr>
          <p:cNvSpPr/>
          <p:nvPr/>
        </p:nvSpPr>
        <p:spPr>
          <a:xfrm>
            <a:off x="1065278" y="5176554"/>
            <a:ext cx="399369" cy="38839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58" name="文字方塊 57">
            <a:extLst>
              <a:ext uri="{FF2B5EF4-FFF2-40B4-BE49-F238E27FC236}">
                <a16:creationId xmlns:a16="http://schemas.microsoft.com/office/drawing/2014/main" id="{1D3D9C69-4E45-48A2-895B-773193C6CF38}"/>
              </a:ext>
            </a:extLst>
          </p:cNvPr>
          <p:cNvSpPr txBox="1"/>
          <p:nvPr/>
        </p:nvSpPr>
        <p:spPr>
          <a:xfrm>
            <a:off x="1662197" y="5159731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/>
              <a:t>+</a:t>
            </a:r>
            <a:endParaRPr lang="zh-TW" altLang="en-US" sz="2400" dirty="0"/>
          </a:p>
        </p:txBody>
      </p:sp>
      <p:sp>
        <p:nvSpPr>
          <p:cNvPr id="59" name="矩形: 圓角 58">
            <a:extLst>
              <a:ext uri="{FF2B5EF4-FFF2-40B4-BE49-F238E27FC236}">
                <a16:creationId xmlns:a16="http://schemas.microsoft.com/office/drawing/2014/main" id="{C410451B-065E-452D-99CA-287241488997}"/>
              </a:ext>
            </a:extLst>
          </p:cNvPr>
          <p:cNvSpPr/>
          <p:nvPr/>
        </p:nvSpPr>
        <p:spPr>
          <a:xfrm>
            <a:off x="2033403" y="5191300"/>
            <a:ext cx="1003198" cy="435256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err="1"/>
              <a:t>cT</a:t>
            </a:r>
            <a:endParaRPr lang="zh-TW" altLang="en-US" dirty="0"/>
          </a:p>
        </p:txBody>
      </p:sp>
      <p:graphicFrame>
        <p:nvGraphicFramePr>
          <p:cNvPr id="60" name="物件 59">
            <a:extLst>
              <a:ext uri="{FF2B5EF4-FFF2-40B4-BE49-F238E27FC236}">
                <a16:creationId xmlns:a16="http://schemas.microsoft.com/office/drawing/2014/main" id="{AE7AA0D8-87FB-4D1C-97E7-8290A9827EC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80425012"/>
              </p:ext>
            </p:extLst>
          </p:nvPr>
        </p:nvGraphicFramePr>
        <p:xfrm>
          <a:off x="3028984" y="5237493"/>
          <a:ext cx="376291" cy="3449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4" name="Equation" r:id="rId5" imgW="152280" imgH="139680" progId="Equation.DSMT4">
                  <p:embed/>
                </p:oleObj>
              </mc:Choice>
              <mc:Fallback>
                <p:oleObj name="Equation" r:id="rId5" imgW="152280" imgH="139680" progId="Equation.DSMT4">
                  <p:embed/>
                  <p:pic>
                    <p:nvPicPr>
                      <p:cNvPr id="60" name="物件 59">
                        <a:extLst>
                          <a:ext uri="{FF2B5EF4-FFF2-40B4-BE49-F238E27FC236}">
                            <a16:creationId xmlns:a16="http://schemas.microsoft.com/office/drawing/2014/main" id="{AE7AA0D8-87FB-4D1C-97E7-8290A9827EC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028984" y="5237493"/>
                        <a:ext cx="376291" cy="34493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" name="文字方塊 60">
            <a:extLst>
              <a:ext uri="{FF2B5EF4-FFF2-40B4-BE49-F238E27FC236}">
                <a16:creationId xmlns:a16="http://schemas.microsoft.com/office/drawing/2014/main" id="{AA81EE02-4818-4B3C-A557-5D53314A21A7}"/>
              </a:ext>
            </a:extLst>
          </p:cNvPr>
          <p:cNvSpPr txBox="1"/>
          <p:nvPr/>
        </p:nvSpPr>
        <p:spPr>
          <a:xfrm>
            <a:off x="3276587" y="5162177"/>
            <a:ext cx="2776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/>
              <a:t>(</a:t>
            </a:r>
            <a:endParaRPr lang="zh-TW" altLang="en-US" sz="2400" dirty="0"/>
          </a:p>
        </p:txBody>
      </p:sp>
      <p:sp>
        <p:nvSpPr>
          <p:cNvPr id="62" name="矩形: 圓角 61">
            <a:extLst>
              <a:ext uri="{FF2B5EF4-FFF2-40B4-BE49-F238E27FC236}">
                <a16:creationId xmlns:a16="http://schemas.microsoft.com/office/drawing/2014/main" id="{410D6C97-7968-479D-814E-483629E13DC2}"/>
              </a:ext>
            </a:extLst>
          </p:cNvPr>
          <p:cNvSpPr/>
          <p:nvPr/>
        </p:nvSpPr>
        <p:spPr>
          <a:xfrm>
            <a:off x="3499843" y="4939746"/>
            <a:ext cx="424610" cy="109493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bi</a:t>
            </a:r>
            <a:endParaRPr lang="zh-TW" altLang="en-US" dirty="0"/>
          </a:p>
        </p:txBody>
      </p:sp>
      <p:sp>
        <p:nvSpPr>
          <p:cNvPr id="64" name="文字方塊 63">
            <a:extLst>
              <a:ext uri="{FF2B5EF4-FFF2-40B4-BE49-F238E27FC236}">
                <a16:creationId xmlns:a16="http://schemas.microsoft.com/office/drawing/2014/main" id="{14C17494-0253-43C6-87E0-A5DD3243FCCA}"/>
              </a:ext>
            </a:extLst>
          </p:cNvPr>
          <p:cNvSpPr txBox="1"/>
          <p:nvPr/>
        </p:nvSpPr>
        <p:spPr>
          <a:xfrm>
            <a:off x="3917558" y="5176554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/>
              <a:t>+</a:t>
            </a:r>
            <a:endParaRPr lang="zh-TW" altLang="en-US" sz="2400" dirty="0"/>
          </a:p>
        </p:txBody>
      </p:sp>
      <p:sp>
        <p:nvSpPr>
          <p:cNvPr id="65" name="矩形: 圓角 64">
            <a:extLst>
              <a:ext uri="{FF2B5EF4-FFF2-40B4-BE49-F238E27FC236}">
                <a16:creationId xmlns:a16="http://schemas.microsoft.com/office/drawing/2014/main" id="{5EA759A8-F705-49FF-9077-C3D445B73590}"/>
              </a:ext>
            </a:extLst>
          </p:cNvPr>
          <p:cNvSpPr/>
          <p:nvPr/>
        </p:nvSpPr>
        <p:spPr>
          <a:xfrm>
            <a:off x="4209883" y="4899314"/>
            <a:ext cx="1398950" cy="122125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w</a:t>
            </a:r>
            <a:endParaRPr lang="zh-TW" altLang="en-US" dirty="0"/>
          </a:p>
        </p:txBody>
      </p:sp>
      <p:sp>
        <p:nvSpPr>
          <p:cNvPr id="66" name="矩形: 圓角 65">
            <a:extLst>
              <a:ext uri="{FF2B5EF4-FFF2-40B4-BE49-F238E27FC236}">
                <a16:creationId xmlns:a16="http://schemas.microsoft.com/office/drawing/2014/main" id="{2D061CBA-B14F-47B7-8C10-4F35F104C781}"/>
              </a:ext>
            </a:extLst>
          </p:cNvPr>
          <p:cNvSpPr/>
          <p:nvPr/>
        </p:nvSpPr>
        <p:spPr>
          <a:xfrm>
            <a:off x="5701264" y="4962474"/>
            <a:ext cx="424610" cy="109493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err="1"/>
              <a:t>xj</a:t>
            </a:r>
            <a:endParaRPr lang="zh-TW" altLang="en-US" dirty="0"/>
          </a:p>
        </p:txBody>
      </p:sp>
      <p:sp>
        <p:nvSpPr>
          <p:cNvPr id="67" name="文字方塊 66">
            <a:extLst>
              <a:ext uri="{FF2B5EF4-FFF2-40B4-BE49-F238E27FC236}">
                <a16:creationId xmlns:a16="http://schemas.microsoft.com/office/drawing/2014/main" id="{8C2A529F-7395-47EA-8D19-EBCE01C2CFFB}"/>
              </a:ext>
            </a:extLst>
          </p:cNvPr>
          <p:cNvSpPr txBox="1"/>
          <p:nvPr/>
        </p:nvSpPr>
        <p:spPr>
          <a:xfrm>
            <a:off x="6137142" y="5218883"/>
            <a:ext cx="2776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/>
              <a:t>)</a:t>
            </a:r>
            <a:endParaRPr lang="zh-TW" altLang="en-US" sz="2400" dirty="0"/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9562EA5F-B342-47E9-9018-7DF14955AB51}"/>
              </a:ext>
            </a:extLst>
          </p:cNvPr>
          <p:cNvSpPr/>
          <p:nvPr/>
        </p:nvSpPr>
        <p:spPr>
          <a:xfrm>
            <a:off x="5535037" y="1780645"/>
            <a:ext cx="465535" cy="47840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a1</a:t>
            </a:r>
            <a:endParaRPr lang="zh-TW" altLang="en-US" dirty="0"/>
          </a:p>
        </p:txBody>
      </p:sp>
      <p:sp>
        <p:nvSpPr>
          <p:cNvPr id="52" name="矩形: 圓角 51">
            <a:extLst>
              <a:ext uri="{FF2B5EF4-FFF2-40B4-BE49-F238E27FC236}">
                <a16:creationId xmlns:a16="http://schemas.microsoft.com/office/drawing/2014/main" id="{C613D4AF-DDFC-4F2C-9180-1E9095537AF4}"/>
              </a:ext>
            </a:extLst>
          </p:cNvPr>
          <p:cNvSpPr/>
          <p:nvPr/>
        </p:nvSpPr>
        <p:spPr>
          <a:xfrm>
            <a:off x="5539463" y="3438281"/>
            <a:ext cx="465535" cy="47840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a2</a:t>
            </a:r>
            <a:endParaRPr lang="zh-TW" altLang="en-US" dirty="0"/>
          </a:p>
        </p:txBody>
      </p:sp>
      <p:cxnSp>
        <p:nvCxnSpPr>
          <p:cNvPr id="63" name="直線單箭頭接點 62">
            <a:extLst>
              <a:ext uri="{FF2B5EF4-FFF2-40B4-BE49-F238E27FC236}">
                <a16:creationId xmlns:a16="http://schemas.microsoft.com/office/drawing/2014/main" id="{4EAFA378-D87B-465A-B4B2-9F17A86D84D1}"/>
              </a:ext>
            </a:extLst>
          </p:cNvPr>
          <p:cNvCxnSpPr/>
          <p:nvPr/>
        </p:nvCxnSpPr>
        <p:spPr>
          <a:xfrm flipH="1">
            <a:off x="3886924" y="2012865"/>
            <a:ext cx="1639613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線單箭頭接點 67">
            <a:extLst>
              <a:ext uri="{FF2B5EF4-FFF2-40B4-BE49-F238E27FC236}">
                <a16:creationId xmlns:a16="http://schemas.microsoft.com/office/drawing/2014/main" id="{624BC90B-BFDA-4372-9038-B56EDDD83AE8}"/>
              </a:ext>
            </a:extLst>
          </p:cNvPr>
          <p:cNvCxnSpPr/>
          <p:nvPr/>
        </p:nvCxnSpPr>
        <p:spPr>
          <a:xfrm flipH="1">
            <a:off x="3886923" y="3685225"/>
            <a:ext cx="1639613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線單箭頭接點 69">
            <a:extLst>
              <a:ext uri="{FF2B5EF4-FFF2-40B4-BE49-F238E27FC236}">
                <a16:creationId xmlns:a16="http://schemas.microsoft.com/office/drawing/2014/main" id="{4584B848-7D52-48F9-AA48-2314598A2CBA}"/>
              </a:ext>
            </a:extLst>
          </p:cNvPr>
          <p:cNvCxnSpPr>
            <a:cxnSpLocks/>
          </p:cNvCxnSpPr>
          <p:nvPr/>
        </p:nvCxnSpPr>
        <p:spPr>
          <a:xfrm flipH="1" flipV="1">
            <a:off x="3920277" y="1991206"/>
            <a:ext cx="1639612" cy="167700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線單箭頭接點 70">
            <a:extLst>
              <a:ext uri="{FF2B5EF4-FFF2-40B4-BE49-F238E27FC236}">
                <a16:creationId xmlns:a16="http://schemas.microsoft.com/office/drawing/2014/main" id="{532C2EC1-3593-45A1-9451-A54F092ED374}"/>
              </a:ext>
            </a:extLst>
          </p:cNvPr>
          <p:cNvCxnSpPr>
            <a:cxnSpLocks/>
          </p:cNvCxnSpPr>
          <p:nvPr/>
        </p:nvCxnSpPr>
        <p:spPr>
          <a:xfrm flipH="1">
            <a:off x="3899211" y="2002626"/>
            <a:ext cx="1652225" cy="167700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文字方塊 72">
            <a:extLst>
              <a:ext uri="{FF2B5EF4-FFF2-40B4-BE49-F238E27FC236}">
                <a16:creationId xmlns:a16="http://schemas.microsoft.com/office/drawing/2014/main" id="{0C62BA6B-6783-46BE-A807-3D4D38B4F6B0}"/>
              </a:ext>
            </a:extLst>
          </p:cNvPr>
          <p:cNvSpPr txBox="1"/>
          <p:nvPr/>
        </p:nvSpPr>
        <p:spPr>
          <a:xfrm>
            <a:off x="4448176" y="1722961"/>
            <a:ext cx="5838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rgbClr val="0070C0"/>
                </a:solidFill>
              </a:rPr>
              <a:t>w11</a:t>
            </a:r>
            <a:endParaRPr lang="zh-TW" altLang="en-US" dirty="0">
              <a:solidFill>
                <a:srgbClr val="0070C0"/>
              </a:solidFill>
            </a:endParaRPr>
          </a:p>
        </p:txBody>
      </p:sp>
      <p:sp>
        <p:nvSpPr>
          <p:cNvPr id="75" name="文字方塊 74">
            <a:extLst>
              <a:ext uri="{FF2B5EF4-FFF2-40B4-BE49-F238E27FC236}">
                <a16:creationId xmlns:a16="http://schemas.microsoft.com/office/drawing/2014/main" id="{24DFE0B9-AC13-4A81-9D44-80B701270F8C}"/>
              </a:ext>
            </a:extLst>
          </p:cNvPr>
          <p:cNvSpPr txBox="1"/>
          <p:nvPr/>
        </p:nvSpPr>
        <p:spPr>
          <a:xfrm>
            <a:off x="5100448" y="2323837"/>
            <a:ext cx="5838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rgbClr val="0070C0"/>
                </a:solidFill>
              </a:rPr>
              <a:t>w21</a:t>
            </a:r>
            <a:endParaRPr lang="zh-TW" altLang="en-US" dirty="0">
              <a:solidFill>
                <a:srgbClr val="0070C0"/>
              </a:solidFill>
            </a:endParaRPr>
          </a:p>
        </p:txBody>
      </p:sp>
      <p:sp>
        <p:nvSpPr>
          <p:cNvPr id="76" name="文字方塊 75">
            <a:extLst>
              <a:ext uri="{FF2B5EF4-FFF2-40B4-BE49-F238E27FC236}">
                <a16:creationId xmlns:a16="http://schemas.microsoft.com/office/drawing/2014/main" id="{FC48CF3B-BB43-4F09-B8E9-725800519512}"/>
              </a:ext>
            </a:extLst>
          </p:cNvPr>
          <p:cNvSpPr txBox="1"/>
          <p:nvPr/>
        </p:nvSpPr>
        <p:spPr>
          <a:xfrm>
            <a:off x="5016764" y="2890167"/>
            <a:ext cx="5838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rgbClr val="0070C0"/>
                </a:solidFill>
              </a:rPr>
              <a:t>w12</a:t>
            </a:r>
            <a:endParaRPr lang="zh-TW" altLang="en-US" dirty="0">
              <a:solidFill>
                <a:srgbClr val="0070C0"/>
              </a:solidFill>
            </a:endParaRPr>
          </a:p>
        </p:txBody>
      </p:sp>
      <p:sp>
        <p:nvSpPr>
          <p:cNvPr id="77" name="文字方塊 76">
            <a:extLst>
              <a:ext uri="{FF2B5EF4-FFF2-40B4-BE49-F238E27FC236}">
                <a16:creationId xmlns:a16="http://schemas.microsoft.com/office/drawing/2014/main" id="{65351455-8016-405D-8445-7CDF59489E25}"/>
              </a:ext>
            </a:extLst>
          </p:cNvPr>
          <p:cNvSpPr txBox="1"/>
          <p:nvPr/>
        </p:nvSpPr>
        <p:spPr>
          <a:xfrm>
            <a:off x="4539121" y="3338596"/>
            <a:ext cx="5838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rgbClr val="0070C0"/>
                </a:solidFill>
              </a:rPr>
              <a:t>w22</a:t>
            </a:r>
            <a:endParaRPr lang="zh-TW" altLang="en-US" dirty="0">
              <a:solidFill>
                <a:srgbClr val="0070C0"/>
              </a:solidFill>
            </a:endParaRPr>
          </a:p>
        </p:txBody>
      </p:sp>
      <p:sp>
        <p:nvSpPr>
          <p:cNvPr id="79" name="矩形: 圓角 78">
            <a:extLst>
              <a:ext uri="{FF2B5EF4-FFF2-40B4-BE49-F238E27FC236}">
                <a16:creationId xmlns:a16="http://schemas.microsoft.com/office/drawing/2014/main" id="{AD28ED44-7968-4D55-9668-CDB5782CD71D}"/>
              </a:ext>
            </a:extLst>
          </p:cNvPr>
          <p:cNvSpPr/>
          <p:nvPr/>
        </p:nvSpPr>
        <p:spPr>
          <a:xfrm>
            <a:off x="3395220" y="1806253"/>
            <a:ext cx="529722" cy="422516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+</a:t>
            </a:r>
            <a:endParaRPr lang="zh-TW" altLang="en-US" dirty="0"/>
          </a:p>
        </p:txBody>
      </p:sp>
      <p:sp>
        <p:nvSpPr>
          <p:cNvPr id="80" name="矩形: 圓角 79">
            <a:extLst>
              <a:ext uri="{FF2B5EF4-FFF2-40B4-BE49-F238E27FC236}">
                <a16:creationId xmlns:a16="http://schemas.microsoft.com/office/drawing/2014/main" id="{E9D7FFA7-D99D-4611-871C-031A205406AD}"/>
              </a:ext>
            </a:extLst>
          </p:cNvPr>
          <p:cNvSpPr/>
          <p:nvPr/>
        </p:nvSpPr>
        <p:spPr>
          <a:xfrm>
            <a:off x="3363507" y="3520999"/>
            <a:ext cx="529722" cy="422516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+</a:t>
            </a:r>
            <a:endParaRPr lang="zh-TW" altLang="en-US" dirty="0"/>
          </a:p>
        </p:txBody>
      </p:sp>
      <p:cxnSp>
        <p:nvCxnSpPr>
          <p:cNvPr id="81" name="直線單箭頭接點 80">
            <a:extLst>
              <a:ext uri="{FF2B5EF4-FFF2-40B4-BE49-F238E27FC236}">
                <a16:creationId xmlns:a16="http://schemas.microsoft.com/office/drawing/2014/main" id="{E3D7D299-5B44-4C68-96AC-355B32317458}"/>
              </a:ext>
            </a:extLst>
          </p:cNvPr>
          <p:cNvCxnSpPr>
            <a:cxnSpLocks/>
          </p:cNvCxnSpPr>
          <p:nvPr/>
        </p:nvCxnSpPr>
        <p:spPr>
          <a:xfrm>
            <a:off x="7674654" y="1722961"/>
            <a:ext cx="0" cy="40990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線單箭頭接點 81">
            <a:extLst>
              <a:ext uri="{FF2B5EF4-FFF2-40B4-BE49-F238E27FC236}">
                <a16:creationId xmlns:a16="http://schemas.microsoft.com/office/drawing/2014/main" id="{8C913E34-5162-4281-A2D1-0C62397EB6B1}"/>
              </a:ext>
            </a:extLst>
          </p:cNvPr>
          <p:cNvCxnSpPr>
            <a:cxnSpLocks/>
          </p:cNvCxnSpPr>
          <p:nvPr/>
        </p:nvCxnSpPr>
        <p:spPr>
          <a:xfrm flipV="1">
            <a:off x="3628368" y="3924490"/>
            <a:ext cx="0" cy="39846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矩形: 圓角 82">
            <a:extLst>
              <a:ext uri="{FF2B5EF4-FFF2-40B4-BE49-F238E27FC236}">
                <a16:creationId xmlns:a16="http://schemas.microsoft.com/office/drawing/2014/main" id="{D884E7C6-EEEE-4E42-A5BF-B27BE07E5910}"/>
              </a:ext>
            </a:extLst>
          </p:cNvPr>
          <p:cNvSpPr/>
          <p:nvPr/>
        </p:nvSpPr>
        <p:spPr>
          <a:xfrm>
            <a:off x="3425493" y="2651302"/>
            <a:ext cx="466659" cy="30900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b1</a:t>
            </a:r>
            <a:endParaRPr lang="zh-TW" altLang="en-US" dirty="0"/>
          </a:p>
        </p:txBody>
      </p:sp>
      <p:sp>
        <p:nvSpPr>
          <p:cNvPr id="84" name="矩形: 圓角 83">
            <a:extLst>
              <a:ext uri="{FF2B5EF4-FFF2-40B4-BE49-F238E27FC236}">
                <a16:creationId xmlns:a16="http://schemas.microsoft.com/office/drawing/2014/main" id="{304A243C-BC45-43BC-A6FC-FD4B0CA9C555}"/>
              </a:ext>
            </a:extLst>
          </p:cNvPr>
          <p:cNvSpPr/>
          <p:nvPr/>
        </p:nvSpPr>
        <p:spPr>
          <a:xfrm>
            <a:off x="3412255" y="4345466"/>
            <a:ext cx="466659" cy="30900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b2</a:t>
            </a:r>
            <a:endParaRPr lang="zh-TW" altLang="en-US" dirty="0"/>
          </a:p>
        </p:txBody>
      </p:sp>
      <p:sp>
        <p:nvSpPr>
          <p:cNvPr id="85" name="橢圓 84">
            <a:extLst>
              <a:ext uri="{FF2B5EF4-FFF2-40B4-BE49-F238E27FC236}">
                <a16:creationId xmlns:a16="http://schemas.microsoft.com/office/drawing/2014/main" id="{12081DF8-DE47-4BAB-A4C3-0F468C9B33F5}"/>
              </a:ext>
            </a:extLst>
          </p:cNvPr>
          <p:cNvSpPr/>
          <p:nvPr/>
        </p:nvSpPr>
        <p:spPr>
          <a:xfrm>
            <a:off x="3062098" y="1537874"/>
            <a:ext cx="1135114" cy="1623848"/>
          </a:xfrm>
          <a:prstGeom prst="ellipse">
            <a:avLst/>
          </a:prstGeom>
          <a:noFill/>
          <a:ln w="381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6" name="橢圓 85">
            <a:extLst>
              <a:ext uri="{FF2B5EF4-FFF2-40B4-BE49-F238E27FC236}">
                <a16:creationId xmlns:a16="http://schemas.microsoft.com/office/drawing/2014/main" id="{8627F9D1-E23B-41F0-B91B-20373E9E67D1}"/>
              </a:ext>
            </a:extLst>
          </p:cNvPr>
          <p:cNvSpPr/>
          <p:nvPr/>
        </p:nvSpPr>
        <p:spPr>
          <a:xfrm>
            <a:off x="3079659" y="3220803"/>
            <a:ext cx="1135114" cy="1623848"/>
          </a:xfrm>
          <a:prstGeom prst="ellipse">
            <a:avLst/>
          </a:prstGeom>
          <a:noFill/>
          <a:ln w="381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7" name="文字方塊 86">
            <a:extLst>
              <a:ext uri="{FF2B5EF4-FFF2-40B4-BE49-F238E27FC236}">
                <a16:creationId xmlns:a16="http://schemas.microsoft.com/office/drawing/2014/main" id="{E7A3C9CD-4000-44F6-B76B-F2F708C1F825}"/>
              </a:ext>
            </a:extLst>
          </p:cNvPr>
          <p:cNvSpPr txBox="1"/>
          <p:nvPr/>
        </p:nvSpPr>
        <p:spPr>
          <a:xfrm>
            <a:off x="3893229" y="1247474"/>
            <a:ext cx="9172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sigmoid</a:t>
            </a:r>
            <a:endParaRPr lang="zh-TW" altLang="en-US" dirty="0"/>
          </a:p>
        </p:txBody>
      </p:sp>
      <p:sp>
        <p:nvSpPr>
          <p:cNvPr id="88" name="文字方塊 87">
            <a:extLst>
              <a:ext uri="{FF2B5EF4-FFF2-40B4-BE49-F238E27FC236}">
                <a16:creationId xmlns:a16="http://schemas.microsoft.com/office/drawing/2014/main" id="{6F0621BB-593A-41B6-8540-2BCECDCF4F6B}"/>
              </a:ext>
            </a:extLst>
          </p:cNvPr>
          <p:cNvSpPr txBox="1"/>
          <p:nvPr/>
        </p:nvSpPr>
        <p:spPr>
          <a:xfrm>
            <a:off x="3970338" y="4518239"/>
            <a:ext cx="9172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sigmoid</a:t>
            </a:r>
            <a:endParaRPr lang="zh-TW" altLang="en-US" dirty="0"/>
          </a:p>
        </p:txBody>
      </p:sp>
      <p:cxnSp>
        <p:nvCxnSpPr>
          <p:cNvPr id="90" name="直線單箭頭接點 89">
            <a:extLst>
              <a:ext uri="{FF2B5EF4-FFF2-40B4-BE49-F238E27FC236}">
                <a16:creationId xmlns:a16="http://schemas.microsoft.com/office/drawing/2014/main" id="{056E0439-2519-44E7-A5ED-DDBFE50C8700}"/>
              </a:ext>
            </a:extLst>
          </p:cNvPr>
          <p:cNvCxnSpPr>
            <a:cxnSpLocks/>
          </p:cNvCxnSpPr>
          <p:nvPr/>
        </p:nvCxnSpPr>
        <p:spPr>
          <a:xfrm flipH="1">
            <a:off x="2320961" y="2258633"/>
            <a:ext cx="758699" cy="72186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線單箭頭接點 90">
            <a:extLst>
              <a:ext uri="{FF2B5EF4-FFF2-40B4-BE49-F238E27FC236}">
                <a16:creationId xmlns:a16="http://schemas.microsoft.com/office/drawing/2014/main" id="{3B93FBA6-A51D-4435-88F1-A0522E4424D4}"/>
              </a:ext>
            </a:extLst>
          </p:cNvPr>
          <p:cNvCxnSpPr>
            <a:cxnSpLocks/>
          </p:cNvCxnSpPr>
          <p:nvPr/>
        </p:nvCxnSpPr>
        <p:spPr>
          <a:xfrm flipH="1" flipV="1">
            <a:off x="2360025" y="2976580"/>
            <a:ext cx="710267" cy="95140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矩形: 圓角 91">
            <a:extLst>
              <a:ext uri="{FF2B5EF4-FFF2-40B4-BE49-F238E27FC236}">
                <a16:creationId xmlns:a16="http://schemas.microsoft.com/office/drawing/2014/main" id="{31D00224-4D98-4BC1-91AA-8C6569C61BE1}"/>
              </a:ext>
            </a:extLst>
          </p:cNvPr>
          <p:cNvSpPr/>
          <p:nvPr/>
        </p:nvSpPr>
        <p:spPr>
          <a:xfrm>
            <a:off x="7864532" y="5340754"/>
            <a:ext cx="1003198" cy="435256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err="1"/>
              <a:t>cT</a:t>
            </a:r>
            <a:endParaRPr lang="zh-TW" altLang="en-US" dirty="0"/>
          </a:p>
        </p:txBody>
      </p:sp>
      <p:graphicFrame>
        <p:nvGraphicFramePr>
          <p:cNvPr id="93" name="物件 92">
            <a:extLst>
              <a:ext uri="{FF2B5EF4-FFF2-40B4-BE49-F238E27FC236}">
                <a16:creationId xmlns:a16="http://schemas.microsoft.com/office/drawing/2014/main" id="{812A44F6-F9F0-421F-92DC-87B251E916B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64341005"/>
              </p:ext>
            </p:extLst>
          </p:nvPr>
        </p:nvGraphicFramePr>
        <p:xfrm>
          <a:off x="8883172" y="5377867"/>
          <a:ext cx="376291" cy="3449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5" name="Equation" r:id="rId7" imgW="152280" imgH="139680" progId="Equation.DSMT4">
                  <p:embed/>
                </p:oleObj>
              </mc:Choice>
              <mc:Fallback>
                <p:oleObj name="Equation" r:id="rId7" imgW="152280" imgH="139680" progId="Equation.DSMT4">
                  <p:embed/>
                  <p:pic>
                    <p:nvPicPr>
                      <p:cNvPr id="60" name="物件 59">
                        <a:extLst>
                          <a:ext uri="{FF2B5EF4-FFF2-40B4-BE49-F238E27FC236}">
                            <a16:creationId xmlns:a16="http://schemas.microsoft.com/office/drawing/2014/main" id="{AE7AA0D8-87FB-4D1C-97E7-8290A9827EC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8883172" y="5377867"/>
                        <a:ext cx="376291" cy="34493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4" name="文字方塊 93">
            <a:extLst>
              <a:ext uri="{FF2B5EF4-FFF2-40B4-BE49-F238E27FC236}">
                <a16:creationId xmlns:a16="http://schemas.microsoft.com/office/drawing/2014/main" id="{AE3A29D2-826F-459C-A016-73904E31F8BD}"/>
              </a:ext>
            </a:extLst>
          </p:cNvPr>
          <p:cNvSpPr txBox="1"/>
          <p:nvPr/>
        </p:nvSpPr>
        <p:spPr>
          <a:xfrm>
            <a:off x="9120643" y="5302000"/>
            <a:ext cx="2776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/>
              <a:t>(</a:t>
            </a:r>
            <a:endParaRPr lang="zh-TW" altLang="en-US" sz="2400" dirty="0"/>
          </a:p>
        </p:txBody>
      </p:sp>
      <p:sp>
        <p:nvSpPr>
          <p:cNvPr id="95" name="文字方塊 94">
            <a:extLst>
              <a:ext uri="{FF2B5EF4-FFF2-40B4-BE49-F238E27FC236}">
                <a16:creationId xmlns:a16="http://schemas.microsoft.com/office/drawing/2014/main" id="{D836FBD7-1D9F-4253-B8CF-CE7A735D1DA8}"/>
              </a:ext>
            </a:extLst>
          </p:cNvPr>
          <p:cNvSpPr txBox="1"/>
          <p:nvPr/>
        </p:nvSpPr>
        <p:spPr>
          <a:xfrm>
            <a:off x="9757485" y="5334117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/>
              <a:t>+</a:t>
            </a:r>
            <a:endParaRPr lang="zh-TW" altLang="en-US" sz="2400" dirty="0"/>
          </a:p>
        </p:txBody>
      </p:sp>
      <p:sp>
        <p:nvSpPr>
          <p:cNvPr id="96" name="文字方塊 95">
            <a:extLst>
              <a:ext uri="{FF2B5EF4-FFF2-40B4-BE49-F238E27FC236}">
                <a16:creationId xmlns:a16="http://schemas.microsoft.com/office/drawing/2014/main" id="{1F1A250C-4F58-44D5-9ED0-DC9D0290796B}"/>
              </a:ext>
            </a:extLst>
          </p:cNvPr>
          <p:cNvSpPr txBox="1"/>
          <p:nvPr/>
        </p:nvSpPr>
        <p:spPr>
          <a:xfrm>
            <a:off x="11945210" y="5295757"/>
            <a:ext cx="2776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/>
              <a:t>)</a:t>
            </a:r>
            <a:endParaRPr lang="zh-TW" altLang="en-US" sz="2400" dirty="0"/>
          </a:p>
        </p:txBody>
      </p:sp>
      <p:sp>
        <p:nvSpPr>
          <p:cNvPr id="97" name="矩形: 圓角 96">
            <a:extLst>
              <a:ext uri="{FF2B5EF4-FFF2-40B4-BE49-F238E27FC236}">
                <a16:creationId xmlns:a16="http://schemas.microsoft.com/office/drawing/2014/main" id="{FD3084F1-B83E-4325-ACE8-13778968B1BF}"/>
              </a:ext>
            </a:extLst>
          </p:cNvPr>
          <p:cNvSpPr/>
          <p:nvPr/>
        </p:nvSpPr>
        <p:spPr>
          <a:xfrm>
            <a:off x="9374139" y="5117233"/>
            <a:ext cx="424610" cy="109493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bi</a:t>
            </a:r>
            <a:endParaRPr lang="zh-TW" altLang="en-US" dirty="0"/>
          </a:p>
        </p:txBody>
      </p:sp>
      <p:sp>
        <p:nvSpPr>
          <p:cNvPr id="98" name="矩形: 圓角 97">
            <a:extLst>
              <a:ext uri="{FF2B5EF4-FFF2-40B4-BE49-F238E27FC236}">
                <a16:creationId xmlns:a16="http://schemas.microsoft.com/office/drawing/2014/main" id="{21FF703E-149C-4AC2-A46E-81EBEE78CECB}"/>
              </a:ext>
            </a:extLst>
          </p:cNvPr>
          <p:cNvSpPr/>
          <p:nvPr/>
        </p:nvSpPr>
        <p:spPr>
          <a:xfrm>
            <a:off x="10087657" y="5040833"/>
            <a:ext cx="1398950" cy="122125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w</a:t>
            </a:r>
            <a:endParaRPr lang="zh-TW" altLang="en-US" dirty="0"/>
          </a:p>
        </p:txBody>
      </p:sp>
      <p:sp>
        <p:nvSpPr>
          <p:cNvPr id="99" name="矩形: 圓角 98">
            <a:extLst>
              <a:ext uri="{FF2B5EF4-FFF2-40B4-BE49-F238E27FC236}">
                <a16:creationId xmlns:a16="http://schemas.microsoft.com/office/drawing/2014/main" id="{056219C7-0DAC-4719-90A2-5A018CB738AB}"/>
              </a:ext>
            </a:extLst>
          </p:cNvPr>
          <p:cNvSpPr/>
          <p:nvPr/>
        </p:nvSpPr>
        <p:spPr>
          <a:xfrm>
            <a:off x="11563279" y="5080644"/>
            <a:ext cx="424610" cy="109493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err="1"/>
              <a:t>xj</a:t>
            </a:r>
            <a:endParaRPr lang="zh-TW" altLang="en-US" dirty="0"/>
          </a:p>
        </p:txBody>
      </p:sp>
      <p:cxnSp>
        <p:nvCxnSpPr>
          <p:cNvPr id="44" name="接點: 肘形 43">
            <a:extLst>
              <a:ext uri="{FF2B5EF4-FFF2-40B4-BE49-F238E27FC236}">
                <a16:creationId xmlns:a16="http://schemas.microsoft.com/office/drawing/2014/main" id="{1D4A062F-22CD-4E9F-9F02-A8638C89C64C}"/>
              </a:ext>
            </a:extLst>
          </p:cNvPr>
          <p:cNvCxnSpPr>
            <a:cxnSpLocks/>
          </p:cNvCxnSpPr>
          <p:nvPr/>
        </p:nvCxnSpPr>
        <p:spPr>
          <a:xfrm rot="10800000">
            <a:off x="6129003" y="5207910"/>
            <a:ext cx="958914" cy="334538"/>
          </a:xfrm>
          <a:prstGeom prst="bentConnector3">
            <a:avLst/>
          </a:prstGeom>
          <a:ln w="38100"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文字方塊 48">
            <a:extLst>
              <a:ext uri="{FF2B5EF4-FFF2-40B4-BE49-F238E27FC236}">
                <a16:creationId xmlns:a16="http://schemas.microsoft.com/office/drawing/2014/main" id="{E7C7B551-D985-444D-84AC-5919EE96A37E}"/>
              </a:ext>
            </a:extLst>
          </p:cNvPr>
          <p:cNvSpPr txBox="1"/>
          <p:nvPr/>
        </p:nvSpPr>
        <p:spPr>
          <a:xfrm>
            <a:off x="7538226" y="5307999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/>
              <a:t>=</a:t>
            </a:r>
            <a:endParaRPr lang="zh-TW" altLang="en-US" sz="2400" dirty="0"/>
          </a:p>
        </p:txBody>
      </p:sp>
      <p:sp>
        <p:nvSpPr>
          <p:cNvPr id="50" name="矩形: 圓角 49">
            <a:extLst>
              <a:ext uri="{FF2B5EF4-FFF2-40B4-BE49-F238E27FC236}">
                <a16:creationId xmlns:a16="http://schemas.microsoft.com/office/drawing/2014/main" id="{C4CF3CEC-90B1-4562-A5CC-6D87C99F03C0}"/>
              </a:ext>
            </a:extLst>
          </p:cNvPr>
          <p:cNvSpPr/>
          <p:nvPr/>
        </p:nvSpPr>
        <p:spPr>
          <a:xfrm>
            <a:off x="7086909" y="5302104"/>
            <a:ext cx="496893" cy="47345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ai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1185558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40CE3ED3-0FF5-4BE7-9991-D5AA10D8DD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HW2</a:t>
            </a:r>
            <a:endParaRPr lang="zh-TW" altLang="en-US" dirty="0">
              <a:latin typeface="Times New Roman" panose="02020603050405020304" pitchFamily="18" charset="0"/>
            </a:endParaRP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802DFA1E-EA1F-460C-B03D-A77DC1902E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Neural Network</a:t>
            </a:r>
            <a:endParaRPr lang="zh-TW" altLang="en-US" dirty="0">
              <a:latin typeface="Times New Roman" panose="02020603050405020304" pitchFamily="18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E1FA8D2-DFD5-4756-AAA0-A83E1F45F56C}"/>
              </a:ext>
            </a:extLst>
          </p:cNvPr>
          <p:cNvSpPr/>
          <p:nvPr/>
        </p:nvSpPr>
        <p:spPr>
          <a:xfrm rot="150421">
            <a:off x="-243129" y="6165859"/>
            <a:ext cx="12678257" cy="1122927"/>
          </a:xfrm>
          <a:prstGeom prst="rect">
            <a:avLst/>
          </a:prstGeom>
          <a:solidFill>
            <a:srgbClr val="C2DEE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536276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7BCAF360-054D-4BEA-8A69-BFC491F897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1457" y="410547"/>
            <a:ext cx="10414649" cy="799128"/>
          </a:xfrm>
        </p:spPr>
        <p:txBody>
          <a:bodyPr>
            <a:normAutofit fontScale="90000"/>
          </a:bodyPr>
          <a:lstStyle/>
          <a:p>
            <a:r>
              <a:rPr lang="en-US" altLang="zh-TW" dirty="0"/>
              <a:t>Hagen-Poiseuille</a:t>
            </a:r>
            <a:r>
              <a:rPr lang="en-US" altLang="zh-TW" dirty="0">
                <a:latin typeface="Times New Roman" panose="02020603050405020304" pitchFamily="18" charset="0"/>
              </a:rPr>
              <a:t> flow </a:t>
            </a:r>
            <a:r>
              <a:rPr lang="en-US" altLang="zh-TW" dirty="0"/>
              <a:t>regression</a:t>
            </a:r>
            <a:endParaRPr lang="zh-TW" alt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E12BD13F-5977-4D1C-A5DA-A3DDB66C2383}"/>
              </a:ext>
            </a:extLst>
          </p:cNvPr>
          <p:cNvSpPr txBox="1"/>
          <p:nvPr/>
        </p:nvSpPr>
        <p:spPr>
          <a:xfrm>
            <a:off x="2817845" y="1518466"/>
            <a:ext cx="620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Data</a:t>
            </a:r>
            <a:endParaRPr lang="zh-TW" altLang="en-US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CEDDEAA8-B6ED-4F8C-8823-E19C26811812}"/>
              </a:ext>
            </a:extLst>
          </p:cNvPr>
          <p:cNvSpPr txBox="1"/>
          <p:nvPr/>
        </p:nvSpPr>
        <p:spPr>
          <a:xfrm>
            <a:off x="8753603" y="1554529"/>
            <a:ext cx="7186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result</a:t>
            </a:r>
            <a:endParaRPr lang="zh-TW" altLang="en-US" dirty="0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666A56E0-19C0-4142-9665-1F681F8B48FF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090" y="1923860"/>
            <a:ext cx="5552839" cy="4082739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內容版面配置區 4">
            <a:extLst>
              <a:ext uri="{FF2B5EF4-FFF2-40B4-BE49-F238E27FC236}">
                <a16:creationId xmlns:a16="http://schemas.microsoft.com/office/drawing/2014/main" id="{6C64F10F-F840-49F2-92C3-3C5AE42C51D8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6185072" y="1923861"/>
            <a:ext cx="5727009" cy="4082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72118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0EBED62-029A-487A-A5EB-89CFFC231C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1690" y="19891"/>
            <a:ext cx="10515600" cy="1325563"/>
          </a:xfrm>
        </p:spPr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</a:rPr>
              <a:t>Basic level</a:t>
            </a:r>
            <a:endParaRPr lang="zh-TW" altLang="en-US" dirty="0">
              <a:latin typeface="Times New Roman" panose="02020603050405020304" pitchFamily="18" charset="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B2660B0E-5F6B-4E59-8A18-C00328F314E9}"/>
              </a:ext>
            </a:extLst>
          </p:cNvPr>
          <p:cNvSpPr txBox="1"/>
          <p:nvPr/>
        </p:nvSpPr>
        <p:spPr>
          <a:xfrm>
            <a:off x="6245290" y="129384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TW" altLang="en-US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51C0B5D2-D8D6-4121-BF69-71BA89964611}"/>
              </a:ext>
            </a:extLst>
          </p:cNvPr>
          <p:cNvSpPr txBox="1"/>
          <p:nvPr/>
        </p:nvSpPr>
        <p:spPr>
          <a:xfrm>
            <a:off x="821690" y="1041917"/>
            <a:ext cx="42927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 hidden layer, epoch, learning rate, best loss</a:t>
            </a:r>
            <a:endParaRPr lang="zh-TW" altLang="en-US" dirty="0"/>
          </a:p>
        </p:txBody>
      </p:sp>
      <p:pic>
        <p:nvPicPr>
          <p:cNvPr id="10" name="內容版面配置區 9">
            <a:extLst>
              <a:ext uri="{FF2B5EF4-FFF2-40B4-BE49-F238E27FC236}">
                <a16:creationId xmlns:a16="http://schemas.microsoft.com/office/drawing/2014/main" id="{1129CBFB-D714-4BEE-94E2-A5227F01D88E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21689" y="1490380"/>
            <a:ext cx="7575861" cy="3567296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4EEEBAF6-20F2-4850-B0D5-5D34824847C6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821690" y="5202602"/>
            <a:ext cx="7575860" cy="1527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34103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7A3D749-F54E-4F05-9825-276AE1C285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TW" dirty="0">
                <a:effectLst/>
                <a:latin typeface="Times New Roman" panose="02020603050405020304" pitchFamily="18" charset="0"/>
                <a:ea typeface="標楷體" panose="03000509000000000000" pitchFamily="65" charset="-120"/>
              </a:rPr>
              <a:t>Intermediate level</a:t>
            </a:r>
            <a:endParaRPr lang="zh-TW" altLang="en-US" sz="8800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79DBD36F-4062-4B5C-B9FF-37F690EC3388}"/>
              </a:ext>
            </a:extLst>
          </p:cNvPr>
          <p:cNvSpPr txBox="1"/>
          <p:nvPr/>
        </p:nvSpPr>
        <p:spPr>
          <a:xfrm>
            <a:off x="838200" y="1086477"/>
            <a:ext cx="108166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+mj-lt"/>
              <a:buAutoNum type="arabicParenBoth"/>
            </a:pPr>
            <a:r>
              <a:rPr lang="zh-TW" altLang="zh-TW" sz="1800" kern="1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可嘗試更改模型</a:t>
            </a:r>
            <a:r>
              <a:rPr lang="en-US" altLang="zh-TW" sz="1800" kern="1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zh-TW" sz="1800" kern="1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加寬、加深、激活函數</a:t>
            </a:r>
            <a:r>
              <a:rPr lang="en-US" altLang="zh-TW" sz="1800" kern="1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…..)</a:t>
            </a:r>
            <a:r>
              <a:rPr lang="zh-TW" altLang="zh-TW" sz="1800" kern="1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以提升擬合能力。</a:t>
            </a:r>
            <a:endParaRPr lang="zh-TW" altLang="zh-TW" sz="1800" kern="100" dirty="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arenBoth"/>
            </a:pPr>
            <a:r>
              <a:rPr lang="zh-TW" altLang="zh-TW" sz="1800" kern="1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分別說明你所觀察到加寬模型、加深模型與更改激活函數對</a:t>
            </a:r>
            <a:r>
              <a:rPr lang="en-US" altLang="zh-TW" sz="1800" kern="1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loss</a:t>
            </a:r>
            <a:r>
              <a:rPr lang="zh-TW" altLang="zh-TW" sz="1800" kern="1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造成之影響，並嘗試說明可能原因。</a:t>
            </a:r>
            <a:endParaRPr lang="zh-TW" altLang="zh-TW" sz="1800" kern="100" dirty="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C3476454-8DB2-49A8-BC74-86153F48BE1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821689" y="1889526"/>
            <a:ext cx="8005069" cy="4648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48274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36CD2D5-CFD7-4739-893E-5AA40907D9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>
                <a:effectLst/>
                <a:latin typeface="Times New Roman" panose="02020603050405020304" pitchFamily="18" charset="0"/>
                <a:ea typeface="標楷體" panose="03000509000000000000" pitchFamily="65" charset="-120"/>
              </a:rPr>
              <a:t>Advanced level</a:t>
            </a:r>
            <a:endParaRPr lang="zh-TW" altLang="en-US" sz="8800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B735EFB1-77F2-48F8-9D30-8291E287D664}"/>
              </a:ext>
            </a:extLst>
          </p:cNvPr>
          <p:cNvSpPr txBox="1"/>
          <p:nvPr/>
        </p:nvSpPr>
        <p:spPr>
          <a:xfrm>
            <a:off x="508069" y="1423230"/>
            <a:ext cx="1064761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04800"/>
            <a:r>
              <a:rPr lang="zh-TW" altLang="zh-TW" sz="1800" kern="1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為避免</a:t>
            </a:r>
            <a:r>
              <a:rPr lang="en-US" altLang="zh-TW" sz="1800" kern="1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overfitting</a:t>
            </a:r>
            <a:r>
              <a:rPr lang="zh-TW" altLang="zh-TW" sz="1800" kern="1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，可使用</a:t>
            </a:r>
            <a:r>
              <a:rPr lang="en-US" altLang="zh-TW" sz="1800" kern="1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.</a:t>
            </a:r>
            <a:r>
              <a:rPr lang="en-US" altLang="zh-TW" sz="1800" kern="100" dirty="0" err="1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ckpt</a:t>
            </a:r>
            <a:r>
              <a:rPr lang="zh-TW" altLang="zh-TW" sz="1800" kern="1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檔將模型之參數儲存起來，並且於預測時讀取模型參數。比較該</a:t>
            </a:r>
            <a:r>
              <a:rPr lang="en-US" altLang="zh-TW" sz="1800" kern="1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epoch</a:t>
            </a:r>
            <a:r>
              <a:rPr lang="zh-TW" altLang="zh-TW" sz="1800" kern="1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與上一個</a:t>
            </a:r>
            <a:r>
              <a:rPr lang="en-US" altLang="zh-TW" sz="1800" kern="1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epoch</a:t>
            </a:r>
            <a:r>
              <a:rPr lang="zh-TW" altLang="zh-TW" sz="1800" kern="1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之</a:t>
            </a:r>
            <a:r>
              <a:rPr lang="en-US" altLang="zh-TW" sz="1800" kern="1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validation loss</a:t>
            </a:r>
            <a:r>
              <a:rPr lang="zh-TW" altLang="zh-TW" sz="1800" kern="1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，若該</a:t>
            </a:r>
            <a:r>
              <a:rPr lang="en-US" altLang="zh-TW" sz="1800" kern="1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epoch</a:t>
            </a:r>
            <a:r>
              <a:rPr lang="zh-TW" altLang="zh-TW" sz="1800" kern="1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之</a:t>
            </a:r>
            <a:r>
              <a:rPr lang="en-US" altLang="zh-TW" sz="1800" kern="1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validation loss</a:t>
            </a:r>
            <a:r>
              <a:rPr lang="zh-TW" altLang="zh-TW" sz="1800" kern="1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較小即可儲存該模型參數，並於最後繪圖時讀取並繪圖。嘗試使用</a:t>
            </a:r>
            <a:r>
              <a:rPr lang="en-US" altLang="zh-TW" sz="1800" kern="1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torch</a:t>
            </a:r>
            <a:r>
              <a:rPr lang="zh-TW" altLang="zh-TW" sz="1800" kern="1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內建之方法儲存與讀取模型參數，並於最後繪圖時讀取並繪圖。</a:t>
            </a:r>
            <a:r>
              <a:rPr lang="en-US" altLang="zh-TW" sz="1800" kern="1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(15%)</a:t>
            </a:r>
            <a:endParaRPr lang="zh-TW" altLang="zh-TW" sz="1800" kern="100" dirty="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37037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12AB7CD-D4B4-4184-8028-97C628E0E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作業繳交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200D4B8D-5E71-4BA6-A4D6-FCE6EE5F4E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zh-TW" altLang="en-US" dirty="0"/>
              <a:t>將作業之</a:t>
            </a:r>
            <a:r>
              <a:rPr lang="en-US" altLang="zh-TW" dirty="0"/>
              <a:t>code</a:t>
            </a:r>
            <a:r>
              <a:rPr lang="zh-TW" altLang="en-US" dirty="0"/>
              <a:t>列印出紙本訂起來</a:t>
            </a:r>
            <a:endParaRPr lang="en-US" altLang="zh-TW" dirty="0"/>
          </a:p>
          <a:p>
            <a:pPr marL="514350" indent="-514350">
              <a:buFont typeface="+mj-lt"/>
              <a:buAutoNum type="arabicPeriod"/>
            </a:pPr>
            <a:r>
              <a:rPr lang="zh-TW" altLang="en-US" dirty="0"/>
              <a:t>如果有做</a:t>
            </a:r>
            <a:r>
              <a:rPr lang="en-US" altLang="zh-TW" dirty="0"/>
              <a:t>intermediate level/advanced level</a:t>
            </a:r>
            <a:r>
              <a:rPr lang="zh-TW" altLang="en-US" dirty="0"/>
              <a:t>請特別標示出來</a:t>
            </a:r>
            <a:endParaRPr lang="en-US" altLang="zh-TW" dirty="0"/>
          </a:p>
          <a:p>
            <a:pPr marL="514350" indent="-514350">
              <a:buFont typeface="+mj-lt"/>
              <a:buAutoNum type="arabicPeriod"/>
            </a:pPr>
            <a:r>
              <a:rPr lang="zh-TW" altLang="en-US" dirty="0"/>
              <a:t>請附上結果圖</a:t>
            </a:r>
            <a:endParaRPr lang="en-US" altLang="zh-TW" dirty="0"/>
          </a:p>
          <a:p>
            <a:pPr marL="514350" indent="-514350">
              <a:buFont typeface="+mj-lt"/>
              <a:buAutoNum type="arabicPeriod"/>
            </a:pPr>
            <a:r>
              <a:rPr lang="zh-TW" altLang="en-US" dirty="0"/>
              <a:t>兩周後上課繳交</a:t>
            </a:r>
            <a:endParaRPr lang="en-US" altLang="zh-TW" dirty="0"/>
          </a:p>
          <a:p>
            <a:pPr marL="514350" indent="-514350">
              <a:buFont typeface="+mj-lt"/>
              <a:buAutoNum type="arabicPeriod"/>
            </a:pPr>
            <a:endParaRPr lang="en-US" altLang="zh-TW" dirty="0"/>
          </a:p>
          <a:p>
            <a:pPr marL="514350" indent="-514350">
              <a:buFont typeface="+mj-lt"/>
              <a:buAutoNum type="arabicPeriod"/>
            </a:pP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4630215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40CE3ED3-0FF5-4BE7-9991-D5AA10D8DD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</a:rPr>
              <a:t>若能的話，我應該要去研究預測股票。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802DFA1E-EA1F-460C-B03D-A77DC1902E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b="1" dirty="0">
                <a:solidFill>
                  <a:schemeClr val="bg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Lin-2024</a:t>
            </a:r>
            <a:endParaRPr lang="zh-TW" altLang="en-US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E1FA8D2-DFD5-4756-AAA0-A83E1F45F56C}"/>
              </a:ext>
            </a:extLst>
          </p:cNvPr>
          <p:cNvSpPr/>
          <p:nvPr/>
        </p:nvSpPr>
        <p:spPr>
          <a:xfrm rot="150421">
            <a:off x="-243129" y="6165859"/>
            <a:ext cx="12678257" cy="1122927"/>
          </a:xfrm>
          <a:prstGeom prst="rect">
            <a:avLst/>
          </a:prstGeom>
          <a:solidFill>
            <a:srgbClr val="C2DEE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322337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中庸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601</TotalTime>
  <Words>355</Words>
  <Application>Microsoft Office PowerPoint</Application>
  <PresentationFormat>寬螢幕</PresentationFormat>
  <Paragraphs>114</Paragraphs>
  <Slides>16</Slides>
  <Notes>0</Notes>
  <HiddenSlides>0</HiddenSlides>
  <MMClips>0</MMClips>
  <ScaleCrop>false</ScaleCrop>
  <HeadingPairs>
    <vt:vector size="8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內嵌 OLE 伺服程式</vt:lpstr>
      </vt:variant>
      <vt:variant>
        <vt:i4>2</vt:i4>
      </vt:variant>
      <vt:variant>
        <vt:lpstr>投影片標題</vt:lpstr>
      </vt:variant>
      <vt:variant>
        <vt:i4>16</vt:i4>
      </vt:variant>
    </vt:vector>
  </HeadingPairs>
  <TitlesOfParts>
    <vt:vector size="23" baseType="lpstr">
      <vt:lpstr>微軟正黑體</vt:lpstr>
      <vt:lpstr>Arial</vt:lpstr>
      <vt:lpstr>Calibri</vt:lpstr>
      <vt:lpstr>Times New Roman</vt:lpstr>
      <vt:lpstr>Office 佈景主題</vt:lpstr>
      <vt:lpstr>Equation</vt:lpstr>
      <vt:lpstr>MathType 7.0 Equation</vt:lpstr>
      <vt:lpstr>HW2 講解</vt:lpstr>
      <vt:lpstr>一但我們可以用過去來推知未來，是否人類的未來將被準確預測?</vt:lpstr>
      <vt:lpstr>Hagen-Poiseuille flow</vt:lpstr>
      <vt:lpstr>Hagen-Poiseuille flow</vt:lpstr>
      <vt:lpstr>Neural Network</vt:lpstr>
      <vt:lpstr>回顧機器學習三步驟</vt:lpstr>
      <vt:lpstr>分段連續</vt:lpstr>
      <vt:lpstr>多重特徵</vt:lpstr>
      <vt:lpstr>深度神經網路DNN</vt:lpstr>
      <vt:lpstr>HW2</vt:lpstr>
      <vt:lpstr>Hagen-Poiseuille flow regression</vt:lpstr>
      <vt:lpstr>Basic level</vt:lpstr>
      <vt:lpstr>Intermediate level</vt:lpstr>
      <vt:lpstr>Advanced level</vt:lpstr>
      <vt:lpstr>作業繳交</vt:lpstr>
      <vt:lpstr>若能的話，我應該要去研究預測股票。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柏宇 林</dc:creator>
  <cp:lastModifiedBy>柏宇 林</cp:lastModifiedBy>
  <cp:revision>45</cp:revision>
  <dcterms:created xsi:type="dcterms:W3CDTF">2024-09-04T01:56:14Z</dcterms:created>
  <dcterms:modified xsi:type="dcterms:W3CDTF">2024-10-10T16:29:10Z</dcterms:modified>
</cp:coreProperties>
</file>