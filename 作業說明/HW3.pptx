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4" r:id="rId4"/>
    <p:sldId id="262" r:id="rId5"/>
    <p:sldId id="258" r:id="rId6"/>
    <p:sldId id="270" r:id="rId7"/>
    <p:sldId id="263" r:id="rId8"/>
    <p:sldId id="261" r:id="rId9"/>
    <p:sldId id="264" r:id="rId10"/>
    <p:sldId id="265" r:id="rId11"/>
    <p:sldId id="267" r:id="rId12"/>
    <p:sldId id="275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EE4"/>
    <a:srgbClr val="F8F2E8"/>
    <a:srgbClr val="F3E9D9"/>
    <a:srgbClr val="E2EFF2"/>
    <a:srgbClr val="DCEFF4"/>
    <a:srgbClr val="C2E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0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C9FDC3-1320-4A61-8C97-9D1F489DE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334BE6-CB6A-4B9C-BCFB-EB86A82F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6F0681-0A94-4A0C-9879-5AC3FA2C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C51272-1DDC-47A1-8D81-C03EB3A9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6F124E-0077-45CC-AC97-419FFB65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27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AD32C-CC9B-49C1-B127-FE2DEEC6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6F55CD-EC58-43F0-9D16-A01FDC0D8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CC32AD-BBD8-40B2-A9C7-1DC9EA03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034FB3-739A-4CD3-A224-B35D9D44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B09E0C-A687-4925-BDDB-85310CCB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55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31A82E-C288-41A1-8802-A568451E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6EF926-3EA8-4B18-8656-D78CDF5DF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10FF4B-9065-4149-B6B6-117E0FCA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E41F0D-854B-4762-BA50-772C73DF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30BB67-E633-4322-B957-AE6753E6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59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16A1F-DE08-4E26-8002-3C6E4DAB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70667-5B9C-47EC-9592-1E8CABFC8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7E457E-E024-4AB4-8C79-644B82F7C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3CFB0A-70B9-45D0-9C4B-23F52858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3B0ED7-5157-4913-BB42-223BA2F2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5469AB-1897-47F7-A1A2-FCF5BF4E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25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D35A0-B296-4D6A-B484-356B8AB2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3BABA4-6CFD-4AE0-A1DC-4974FFBCE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CF3970-44AF-452D-84C7-1D2F0BDE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F5B8FC-80EB-4A21-92A2-57F7FC763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82CC5A-91D4-4DD6-BCDD-FE18E67E3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DF3871C-E24C-498F-8629-112DA0E0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B74A940-BD02-46C1-9E7D-AA865A13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850C37-8193-4CA2-BE7D-7E48374D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55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F725AC-4539-4977-BC75-EE190B0E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4D64A7-BCEF-4DDC-883E-4E229BD5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A4B20F-148C-49FA-A1C2-87397402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2339F7-5142-45D3-9C7D-8552EB8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84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725B16-4E99-445A-967C-44DE5EF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FC7AC87-84D5-4FB3-B19D-7C9AB129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17DC09-AECC-46CC-AE6C-1201467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58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8D25A-9B47-4C5E-8370-AEF408F4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EAF07-2CD2-4195-B071-A122E5718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D4969D-43C6-4F6A-9E74-334D3D39C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338FC0-1B8E-43EB-8F5E-B8AF68E8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CB428F-2C53-466A-8D15-FA032FB5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57BF06-46FF-4089-9E60-771B26B2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94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429CF1-75BB-4FFE-94FE-8C891E36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C4B59E-5FD5-484A-A3EF-DC0CD2FD5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918944-2803-4EA5-B0B0-1FFC000DD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67E5B7-C9EB-4E5D-9FF9-4F87FA4A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F414D4-7728-4D97-A596-C0499651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73D23D-E957-46C5-BF94-7F8C3364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85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4A85E-F64C-4911-AE7E-9F0B68C1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822504-A2B9-4B08-BED1-D20710BAA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F20502-A70C-4187-AD90-51EDA45D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D0E363-3428-47D6-9D83-4FDE57A8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CF422F-1C8E-4A50-AEF4-01A85BF1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13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5FAB58-888C-4F53-A691-BF3333521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D2F78A-3E4F-478B-BA4E-5503146DE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D34A80-0BB2-4179-A6F6-A5750513B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B10DAA-5A33-4E67-B4FA-59067CC1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629D5F-E734-4341-8F02-1925FBAF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13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BE5518-15E1-4C88-BD8E-27C24B3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C1CC9B-FDC6-4348-8886-25DA9F8FE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21F74B-14F8-4E4A-B2F6-88C1856F4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61AAD-BB23-4152-B336-9F67ED4AA2B6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19413-A29A-445D-9057-F719BB6E7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7DE831-CFC1-4D8B-9276-E11DE26EE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93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70F190-BDB1-40C1-9BD6-54913D3EE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HW3 </a:t>
            </a:r>
            <a:r>
              <a:rPr lang="zh-TW" altLang="en-US" dirty="0"/>
              <a:t>講解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4A4174-5E36-4A31-8635-FDF37A85D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Classification(</a:t>
            </a:r>
            <a:r>
              <a:rPr lang="zh-TW" altLang="en-US" dirty="0">
                <a:latin typeface="Times New Roman" panose="02020603050405020304" pitchFamily="18" charset="0"/>
              </a:rPr>
              <a:t>分類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and Convolutional </a:t>
            </a:r>
            <a:r>
              <a:rPr lang="en-US" altLang="zh-TW" dirty="0"/>
              <a:t>neural network</a:t>
            </a:r>
            <a:r>
              <a:rPr lang="en-US" altLang="zh-TW" dirty="0">
                <a:latin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</a:rPr>
              <a:t>捲積神經網路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3B4180-EC7F-4265-A27C-A8E405A05B3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047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08" y="171190"/>
            <a:ext cx="11409913" cy="967145"/>
          </a:xfrm>
        </p:spPr>
        <p:txBody>
          <a:bodyPr>
            <a:normAutofit fontScale="90000"/>
          </a:bodyPr>
          <a:lstStyle/>
          <a:p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Teaching a Computer to Classify Anime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808" y="6175797"/>
            <a:ext cx="10515600" cy="682203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https://medium.com/@DataStevenson/teaching-a-computer-to-classify-anime-8c77bc89b881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A9F0290-4888-4467-B68E-1969478A9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99" y="1443750"/>
            <a:ext cx="7874130" cy="44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7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F09DAAA-21FF-4BBB-BCF7-771D1979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神奇寶貝 </a:t>
            </a:r>
            <a:r>
              <a:rPr lang="en-US" altLang="zh-TW" dirty="0"/>
              <a:t>or</a:t>
            </a:r>
            <a:r>
              <a:rPr lang="zh-TW" altLang="en-US" dirty="0"/>
              <a:t> 數碼寶貝</a:t>
            </a:r>
          </a:p>
        </p:txBody>
      </p:sp>
      <p:pic>
        <p:nvPicPr>
          <p:cNvPr id="6146" name="Picture 2" descr="快龍| 寶可夢圖鑑| The official Pokémon Website in Taiwan">
            <a:extLst>
              <a:ext uri="{FF2B5EF4-FFF2-40B4-BE49-F238E27FC236}">
                <a16:creationId xmlns:a16="http://schemas.microsoft.com/office/drawing/2014/main" id="{7189891F-FE76-45D7-8908-BBA1C2D3E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59" y="2033826"/>
            <a:ext cx="1875729" cy="187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妙蛙種子| 寶可夢圖鑑| The official Pokémon Website in Taiwan">
            <a:extLst>
              <a:ext uri="{FF2B5EF4-FFF2-40B4-BE49-F238E27FC236}">
                <a16:creationId xmlns:a16="http://schemas.microsoft.com/office/drawing/2014/main" id="{BC0DBD95-EA21-4FB3-8112-3FC054354D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02" y="2100892"/>
            <a:ext cx="1808664" cy="180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鯉魚王| 寶可夢圖鑑| The official Pokémon Website in Taiwan">
            <a:extLst>
              <a:ext uri="{FF2B5EF4-FFF2-40B4-BE49-F238E27FC236}">
                <a16:creationId xmlns:a16="http://schemas.microsoft.com/office/drawing/2014/main" id="{18F69171-1271-4D6A-9C57-3FC274F2F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280" y="1790216"/>
            <a:ext cx="2234390" cy="2234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B73400C-FD44-43B5-AA34-F95BCDB90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848" y="2100892"/>
            <a:ext cx="2010904" cy="200630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8769940-6B72-415D-B263-1BEBB6656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7752" y="2100892"/>
            <a:ext cx="2010456" cy="200630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13662B-DC79-4BDE-BA6F-F682E38F8B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8208" y="2033826"/>
            <a:ext cx="1645755" cy="2331756"/>
          </a:xfrm>
          <a:prstGeom prst="rect">
            <a:avLst/>
          </a:prstGeom>
        </p:spPr>
      </p:pic>
      <p:pic>
        <p:nvPicPr>
          <p:cNvPr id="6152" name="Picture 8" descr="龜足巨鎧| 寶可夢圖鑑| The official Pokémon Website in Taiwan">
            <a:extLst>
              <a:ext uri="{FF2B5EF4-FFF2-40B4-BE49-F238E27FC236}">
                <a16:creationId xmlns:a16="http://schemas.microsoft.com/office/drawing/2014/main" id="{D0E974EE-9CF6-47D6-A876-E9890C9A6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460" y="4544460"/>
            <a:ext cx="2313540" cy="231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AA7E68B5-BE23-4B16-BDE2-3C801C375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729680"/>
            <a:ext cx="1905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A4ABF32-7695-41AB-B15C-8046E95D197A}"/>
              </a:ext>
            </a:extLst>
          </p:cNvPr>
          <p:cNvSpPr/>
          <p:nvPr/>
        </p:nvSpPr>
        <p:spPr>
          <a:xfrm>
            <a:off x="3685953" y="4486940"/>
            <a:ext cx="4315047" cy="22343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5EFB334-ED44-4C09-9501-4D191ED3F637}"/>
              </a:ext>
            </a:extLst>
          </p:cNvPr>
          <p:cNvSpPr txBox="1"/>
          <p:nvPr/>
        </p:nvSpPr>
        <p:spPr>
          <a:xfrm>
            <a:off x="8097507" y="5316509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>
                <a:solidFill>
                  <a:srgbClr val="FF0000"/>
                </a:solidFill>
              </a:rPr>
              <a:t>?</a:t>
            </a:r>
            <a:endParaRPr lang="zh-TW" altLang="en-US" sz="4400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BDB9515-9960-4F67-9EA2-1B1EE380A7EE}"/>
              </a:ext>
            </a:extLst>
          </p:cNvPr>
          <p:cNvSpPr txBox="1"/>
          <p:nvPr/>
        </p:nvSpPr>
        <p:spPr>
          <a:xfrm>
            <a:off x="422888" y="13822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TW" dirty="0"/>
              <a:t>Pokémon images: https://www.Kaggle.com/kvpratama/pokemonimages-dataset/data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AE9E1AC-C287-4414-8EAA-EECA4C979537}"/>
              </a:ext>
            </a:extLst>
          </p:cNvPr>
          <p:cNvSpPr txBox="1"/>
          <p:nvPr/>
        </p:nvSpPr>
        <p:spPr>
          <a:xfrm>
            <a:off x="6096000" y="12973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TW" dirty="0"/>
              <a:t>Digimon images: https://github.com/DeathReaper0965/Digimon-Generator-GAN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791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Convolutional Neural Network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CNN model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83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0F11A-2F23-45E1-9555-75A0EC8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92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CNN</a:t>
            </a:r>
            <a:r>
              <a:rPr lang="zh-TW" altLang="en-US" dirty="0">
                <a:latin typeface="Times New Roman" panose="02020603050405020304" pitchFamily="18" charset="0"/>
              </a:rPr>
              <a:t>分類流程</a:t>
            </a: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BAF8DDD-2595-49AA-A9FA-DE7AA1716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758438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CBA7A6-D753-4D70-A66B-F1E4C7F4A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577"/>
            <a:ext cx="4625125" cy="215655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捲積神經網路</a:t>
            </a:r>
            <a:r>
              <a:rPr lang="en-US" altLang="zh-TW" dirty="0"/>
              <a:t>(</a:t>
            </a:r>
            <a:r>
              <a:rPr lang="zh-TW" altLang="en-US" dirty="0"/>
              <a:t>辨識特徵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池化</a:t>
            </a:r>
            <a:r>
              <a:rPr lang="en-US" altLang="zh-TW" dirty="0"/>
              <a:t>(</a:t>
            </a:r>
            <a:r>
              <a:rPr lang="zh-TW" altLang="en-US" dirty="0"/>
              <a:t>取最重要特徵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全連接神經網路</a:t>
            </a:r>
            <a:r>
              <a:rPr lang="en-US" altLang="zh-TW" dirty="0"/>
              <a:t>(</a:t>
            </a:r>
            <a:r>
              <a:rPr lang="zh-TW" altLang="en-US" dirty="0"/>
              <a:t>分類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03EACC-E160-47CE-8A54-99D701CB1C4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EC9C469-FE5D-4F8A-880A-D9D786BC5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15" y="2726700"/>
            <a:ext cx="10189469" cy="40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4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HW2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Neural Network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62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CAF360-054D-4BEA-8A69-BFC491F8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57" y="410547"/>
            <a:ext cx="10414649" cy="79912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Cifar10 dataset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0EF50AC-9E68-44F4-9984-302F186E03CA}"/>
              </a:ext>
            </a:extLst>
          </p:cNvPr>
          <p:cNvSpPr txBox="1"/>
          <p:nvPr/>
        </p:nvSpPr>
        <p:spPr>
          <a:xfrm>
            <a:off x="651457" y="15056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b="0" i="0" dirty="0">
                <a:solidFill>
                  <a:srgbClr val="3A3A3A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個類別的圖片，分別是飛機、汽車、鳥、貓、鹿、狗、青蛙、馬、船、卡車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638EDD4-CB62-40F4-AE68-B4900403B79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205" y="2447926"/>
            <a:ext cx="4640362" cy="42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1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BED62-029A-487A-A5EB-89CFFC23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90" y="19891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Basic level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660B0E-5F6B-4E59-8A18-C00328F314E9}"/>
              </a:ext>
            </a:extLst>
          </p:cNvPr>
          <p:cNvSpPr txBox="1"/>
          <p:nvPr/>
        </p:nvSpPr>
        <p:spPr>
          <a:xfrm>
            <a:off x="6245290" y="12938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C0B5D2-D8D6-4121-BF69-71BA89964611}"/>
              </a:ext>
            </a:extLst>
          </p:cNvPr>
          <p:cNvSpPr txBox="1"/>
          <p:nvPr/>
        </p:nvSpPr>
        <p:spPr>
          <a:xfrm>
            <a:off x="821690" y="1041917"/>
            <a:ext cx="406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 </a:t>
            </a:r>
            <a:r>
              <a:rPr lang="en-US" altLang="zh-TW" dirty="0" err="1"/>
              <a:t>batch_size</a:t>
            </a:r>
            <a:r>
              <a:rPr lang="en-US" altLang="zh-TW" dirty="0"/>
              <a:t>, epoch, learning rate, channel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A20F5FE3-38D7-4E70-BB0B-2513458B223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741" y="329610"/>
            <a:ext cx="6124480" cy="17629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98AB29F-4BD3-4FD7-AE21-9D2AE6A865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59" y="2165751"/>
            <a:ext cx="6465157" cy="449023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CF37FA-4A6D-419F-AEB3-EE958F8BF6BF}"/>
              </a:ext>
            </a:extLst>
          </p:cNvPr>
          <p:cNvSpPr txBox="1"/>
          <p:nvPr/>
        </p:nvSpPr>
        <p:spPr>
          <a:xfrm>
            <a:off x="7449880" y="2940753"/>
            <a:ext cx="4189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Configuration block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中之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XX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填入自己設定之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hyperparameters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，同時將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Model block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中之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XX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填入通道與神經元數量，跑出結果圖與準確率即可達到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basic score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341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3D749-F54E-4F05-9825-276AE1C2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Intermediate level</a:t>
            </a:r>
            <a:endParaRPr lang="zh-TW" altLang="en-US" sz="8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DBD36F-4062-4B5C-B9FF-37F690EC3388}"/>
              </a:ext>
            </a:extLst>
          </p:cNvPr>
          <p:cNvSpPr txBox="1"/>
          <p:nvPr/>
        </p:nvSpPr>
        <p:spPr>
          <a:xfrm>
            <a:off x="821689" y="1065212"/>
            <a:ext cx="10816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arenBoth"/>
            </a:pP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為了克服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CNN overfitting(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過擬合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之問題，因此可在每層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CNN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之間加入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Dropout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以機率方式增加訓練之隨機性，進而克服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overfitting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之問題。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C962145-976D-4832-811A-166EAECA8A9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37" y="1812489"/>
            <a:ext cx="6982327" cy="49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2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CD2D5-CFD7-4739-893E-5AA40907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Advanced level</a:t>
            </a:r>
            <a:endParaRPr lang="zh-TW" altLang="en-US" sz="8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35EFB1-77F2-48F8-9D30-8291E287D664}"/>
              </a:ext>
            </a:extLst>
          </p:cNvPr>
          <p:cNvSpPr txBox="1"/>
          <p:nvPr/>
        </p:nvSpPr>
        <p:spPr>
          <a:xfrm>
            <a:off x="508069" y="1423230"/>
            <a:ext cx="10647612" cy="1305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ts val="2400"/>
              </a:lnSpc>
              <a:buFont typeface="+mj-lt"/>
              <a:buAutoNum type="arabicParenBoth"/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分別印出捲積神經網路與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sample code 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內之全連接神經網路之參數總量。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400"/>
              </a:lnSpc>
              <a:buFont typeface="+mj-lt"/>
              <a:buAutoNum type="arabicParenBoth"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 normalization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為提高影像辨識率之重要方法，當模型訓練到最後辨識率無法提升時，該方法為提升辨識率之重要手段。嘗試了解並實作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 normalization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。並印出其準確率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該實作之準確率需大於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basic score</a:t>
            </a:r>
            <a:r>
              <a:rPr lang="zh-TW" altLang="zh-TW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之準確率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(15%)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03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AB7CD-D4B4-4184-8028-97C628E0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作業繳交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0D4B8D-5E71-4BA6-A4D6-FCE6EE5F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將作業之</a:t>
            </a:r>
            <a:r>
              <a:rPr lang="en-US" altLang="zh-TW" dirty="0"/>
              <a:t>code</a:t>
            </a:r>
            <a:r>
              <a:rPr lang="zh-TW" altLang="en-US" dirty="0"/>
              <a:t>列印出紙本訂起來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如果有做</a:t>
            </a:r>
            <a:r>
              <a:rPr lang="en-US" altLang="zh-TW" dirty="0"/>
              <a:t>intermediate level/advanced level</a:t>
            </a:r>
            <a:r>
              <a:rPr lang="zh-TW" altLang="en-US" dirty="0"/>
              <a:t>請特別標示出來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請附上結果圖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兩周後上課繳交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21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433F1-9540-41D6-B925-1B37A06A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回頭看看神奇寶貝與數碼寶貝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FF09E8-E8FE-44EF-945E-7E6F3BD60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Training accuracy: 98.7% ! !</a:t>
            </a:r>
            <a:endParaRPr lang="zh-TW" altLang="en-US" dirty="0"/>
          </a:p>
        </p:txBody>
      </p:sp>
      <p:pic>
        <p:nvPicPr>
          <p:cNvPr id="7" name="Picture 8" descr="龜足巨鎧| 寶可夢圖鑑| The official Pokémon Website in Taiwan">
            <a:extLst>
              <a:ext uri="{FF2B5EF4-FFF2-40B4-BE49-F238E27FC236}">
                <a16:creationId xmlns:a16="http://schemas.microsoft.com/office/drawing/2014/main" id="{5ED5BBEA-3A3A-4848-8D14-33FD554F8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534" y="2844524"/>
            <a:ext cx="2313540" cy="231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F8E5FE4-3254-4FBF-8F01-C19E45725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427" y="3044157"/>
            <a:ext cx="2008665" cy="204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46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343</Words>
  <Application>Microsoft Office PowerPoint</Application>
  <PresentationFormat>寬螢幕</PresentationFormat>
  <Paragraphs>33</Paragraphs>
  <Slides>12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sohne</vt:lpstr>
      <vt:lpstr>標楷體</vt:lpstr>
      <vt:lpstr>Arial</vt:lpstr>
      <vt:lpstr>Calibri</vt:lpstr>
      <vt:lpstr>Times New Roman</vt:lpstr>
      <vt:lpstr>Office 佈景主題</vt:lpstr>
      <vt:lpstr>Equation</vt:lpstr>
      <vt:lpstr>HW3 講解</vt:lpstr>
      <vt:lpstr>Teaching a Computer to Classify Anime</vt:lpstr>
      <vt:lpstr>神奇寶貝 or 數碼寶貝</vt:lpstr>
      <vt:lpstr>Convolutional Neural Network</vt:lpstr>
      <vt:lpstr>CNN分類流程</vt:lpstr>
      <vt:lpstr>HW2</vt:lpstr>
      <vt:lpstr>Cifar10 dataset</vt:lpstr>
      <vt:lpstr>Basic level</vt:lpstr>
      <vt:lpstr>Intermediate level</vt:lpstr>
      <vt:lpstr>Advanced level</vt:lpstr>
      <vt:lpstr>作業繳交</vt:lpstr>
      <vt:lpstr>回頭看看神奇寶貝與數碼寶貝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柏宇 林</dc:creator>
  <cp:lastModifiedBy>柏宇 林</cp:lastModifiedBy>
  <cp:revision>53</cp:revision>
  <dcterms:created xsi:type="dcterms:W3CDTF">2024-09-04T01:56:14Z</dcterms:created>
  <dcterms:modified xsi:type="dcterms:W3CDTF">2024-10-24T09:02:31Z</dcterms:modified>
</cp:coreProperties>
</file>