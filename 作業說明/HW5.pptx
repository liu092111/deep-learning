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8" r:id="rId4"/>
    <p:sldId id="276" r:id="rId5"/>
    <p:sldId id="277" r:id="rId6"/>
    <p:sldId id="278" r:id="rId7"/>
    <p:sldId id="270" r:id="rId8"/>
    <p:sldId id="263" r:id="rId9"/>
    <p:sldId id="284" r:id="rId10"/>
    <p:sldId id="261" r:id="rId11"/>
    <p:sldId id="264" r:id="rId12"/>
    <p:sldId id="265" r:id="rId13"/>
    <p:sldId id="267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DEE4"/>
    <a:srgbClr val="F8F2E8"/>
    <a:srgbClr val="F3E9D9"/>
    <a:srgbClr val="E2EFF2"/>
    <a:srgbClr val="DCEFF4"/>
    <a:srgbClr val="C2E3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62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2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C9FDC3-1320-4A61-8C97-9D1F489DE2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F334BE6-CB6A-4B9C-BCFB-EB86A82F48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36F0681-0A94-4A0C-9879-5AC3FA2CC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1AAD-BB23-4152-B336-9F67ED4AA2B6}" type="datetimeFigureOut">
              <a:rPr lang="zh-TW" altLang="en-US" smtClean="0"/>
              <a:t>2024/12/5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0C51272-1DDC-47A1-8D81-C03EB3A9A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86F124E-0077-45CC-AC97-419FFB651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DF0A1-39AA-45FB-A2B0-88C8B91A3F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9277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6AD32C-CC9B-49C1-B127-FE2DEEC6B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6F55CD-EC58-43F0-9D16-A01FDC0D8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3CC32AD-BBD8-40B2-A9C7-1DC9EA03F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1AAD-BB23-4152-B336-9F67ED4AA2B6}" type="datetimeFigureOut">
              <a:rPr lang="zh-TW" altLang="en-US" smtClean="0"/>
              <a:t>2024/12/5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034FB3-739A-4CD3-A224-B35D9D44F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6B09E0C-A687-4925-BDDB-85310CCB6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DF0A1-39AA-45FB-A2B0-88C8B91A3F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0553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31A82E-C288-41A1-8802-A568451EF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6EF926-3EA8-4B18-8656-D78CDF5DF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F10FF4B-9065-4149-B6B6-117E0FCA4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1AAD-BB23-4152-B336-9F67ED4AA2B6}" type="datetimeFigureOut">
              <a:rPr lang="zh-TW" altLang="en-US" smtClean="0"/>
              <a:t>2024/12/5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E41F0D-854B-4762-BA50-772C73DF1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30BB67-E633-4322-B957-AE6753E6E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DF0A1-39AA-45FB-A2B0-88C8B91A3F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9597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A16A1F-DE08-4E26-8002-3C6E4DABA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170667-5B9C-47EC-9592-1E8CABFC8A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57E457E-E024-4AB4-8C79-644B82F7C6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F3CFB0A-70B9-45D0-9C4B-23F528583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1AAD-BB23-4152-B336-9F67ED4AA2B6}" type="datetimeFigureOut">
              <a:rPr lang="zh-TW" altLang="en-US" smtClean="0"/>
              <a:t>2024/12/5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63B0ED7-5157-4913-BB42-223BA2F2A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55469AB-1897-47F7-A1A2-FCF5BF4EC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DF0A1-39AA-45FB-A2B0-88C8B91A3F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3250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CD35A0-B296-4D6A-B484-356B8AB2C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13BABA4-6CFD-4AE0-A1DC-4974FFBCE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6CF3970-44AF-452D-84C7-1D2F0BDE1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CF5B8FC-80EB-4A21-92A2-57F7FC7632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682CC5A-91D4-4DD6-BCDD-FE18E67E35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DF3871C-E24C-498F-8629-112DA0E09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1AAD-BB23-4152-B336-9F67ED4AA2B6}" type="datetimeFigureOut">
              <a:rPr lang="zh-TW" altLang="en-US" smtClean="0"/>
              <a:t>2024/12/5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B74A940-BD02-46C1-9E7D-AA865A13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3850C37-8193-4CA2-BE7D-7E48374D8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DF0A1-39AA-45FB-A2B0-88C8B91A3F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3559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F725AC-4539-4977-BC75-EE190B0E2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04D64A7-BCEF-4DDC-883E-4E229BD5F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1AAD-BB23-4152-B336-9F67ED4AA2B6}" type="datetimeFigureOut">
              <a:rPr lang="zh-TW" altLang="en-US" smtClean="0"/>
              <a:t>2024/12/5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BA4B20F-148C-49FA-A1C2-873974029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52339F7-5142-45D3-9C7D-8552EB833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DF0A1-39AA-45FB-A2B0-88C8B91A3F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4840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A725B16-4E99-445A-967C-44DE5EF49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1AAD-BB23-4152-B336-9F67ED4AA2B6}" type="datetimeFigureOut">
              <a:rPr lang="zh-TW" altLang="en-US" smtClean="0"/>
              <a:t>2024/12/5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FC7AC87-84D5-4FB3-B19D-7C9AB1295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17DC09-AECC-46CC-AE6C-120146796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DF0A1-39AA-45FB-A2B0-88C8B91A3F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2584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A8D25A-9B47-4C5E-8370-AEF408F44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1EAF07-2CD2-4195-B071-A122E5718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AD4969D-43C6-4F6A-9E74-334D3D39CE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9338FC0-1B8E-43EB-8F5E-B8AF68E88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1AAD-BB23-4152-B336-9F67ED4AA2B6}" type="datetimeFigureOut">
              <a:rPr lang="zh-TW" altLang="en-US" smtClean="0"/>
              <a:t>2024/12/5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FCB428F-2C53-466A-8D15-FA032FB50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357BF06-46FF-4089-9E60-771B26B2B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DF0A1-39AA-45FB-A2B0-88C8B91A3F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1947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429CF1-75BB-4FFE-94FE-8C891E363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2C4B59E-5FD5-484A-A3EF-DC0CD2FD53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9918944-2803-4EA5-B0B0-1FFC000DD6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667E5B7-C9EB-4E5D-9FF9-4F87FA4A9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1AAD-BB23-4152-B336-9F67ED4AA2B6}" type="datetimeFigureOut">
              <a:rPr lang="zh-TW" altLang="en-US" smtClean="0"/>
              <a:t>2024/12/5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CF414D4-7728-4D97-A596-C04996515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C73D23D-E957-46C5-BF94-7F8C33647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DF0A1-39AA-45FB-A2B0-88C8B91A3F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3852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84A85E-F64C-4911-AE7E-9F0B68C15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1822504-A2B9-4B08-BED1-D20710BAA0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BF20502-A70C-4187-AD90-51EDA45D2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1AAD-BB23-4152-B336-9F67ED4AA2B6}" type="datetimeFigureOut">
              <a:rPr lang="zh-TW" altLang="en-US" smtClean="0"/>
              <a:t>2024/12/5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7D0E363-3428-47D6-9D83-4FDE57A83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4CF422F-1C8E-4A50-AEF4-01A85BF1C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DF0A1-39AA-45FB-A2B0-88C8B91A3F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8135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45FAB58-888C-4F53-A691-BF33335210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BD2F78A-3E4F-478B-BA4E-5503146DE6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D34A80-0BB2-4179-A6F6-A5750513B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1AAD-BB23-4152-B336-9F67ED4AA2B6}" type="datetimeFigureOut">
              <a:rPr lang="zh-TW" altLang="en-US" smtClean="0"/>
              <a:t>2024/12/5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8B10DAA-5A33-4E67-B4FA-59067CC19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B629D5F-E734-4341-8F02-1925FBAF9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DF0A1-39AA-45FB-A2B0-88C8B91A3F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8136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8BE5518-15E1-4C88-BD8E-27C24B38A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3C1CC9B-FDC6-4348-8886-25DA9F8FE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921F74B-14F8-4E4A-B2F6-88C1856F44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C61AAD-BB23-4152-B336-9F67ED4AA2B6}" type="datetimeFigureOut">
              <a:rPr lang="zh-TW" altLang="en-US" smtClean="0"/>
              <a:t>2024/12/5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8919413-A29A-445D-9057-F719BB6E75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37DE831-CFC1-4D8B-9276-E11DE26EE8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DF0A1-39AA-45FB-A2B0-88C8B91A3F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8930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png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png"/><Relationship Id="rId4" Type="http://schemas.openxmlformats.org/officeDocument/2006/relationships/image" Target="../media/image1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4.png"/><Relationship Id="rId4" Type="http://schemas.openxmlformats.org/officeDocument/2006/relationships/image" Target="../media/image1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5.png"/><Relationship Id="rId4" Type="http://schemas.openxmlformats.org/officeDocument/2006/relationships/image" Target="../media/image1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70F190-BDB1-40C1-9BD6-54913D3EE2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HW5 </a:t>
            </a:r>
            <a:r>
              <a:rPr lang="zh-TW" altLang="en-US" dirty="0"/>
              <a:t>講解</a:t>
            </a:r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44A4174-5E36-4A31-8635-FDF37A85D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4163" y="3665701"/>
            <a:ext cx="10605796" cy="1560901"/>
          </a:xfrm>
        </p:spPr>
        <p:txBody>
          <a:bodyPr/>
          <a:lstStyle/>
          <a:p>
            <a:r>
              <a:rPr lang="en-US" altLang="zh-TW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Electromagnetic wave equation</a:t>
            </a:r>
            <a:r>
              <a:rPr lang="en-US" altLang="zh-TW" dirty="0">
                <a:latin typeface="Times New Roman" panose="02020603050405020304" pitchFamily="18" charset="0"/>
              </a:rPr>
              <a:t>(</a:t>
            </a:r>
            <a:r>
              <a:rPr lang="zh-TW" altLang="en-US" dirty="0">
                <a:latin typeface="Times New Roman" panose="02020603050405020304" pitchFamily="18" charset="0"/>
              </a:rPr>
              <a:t>電磁波方程式</a:t>
            </a:r>
            <a:r>
              <a:rPr lang="en-US" altLang="zh-TW" dirty="0">
                <a:latin typeface="Times New Roman" panose="02020603050405020304" pitchFamily="18" charset="0"/>
              </a:rPr>
              <a:t>)</a:t>
            </a:r>
            <a:r>
              <a:rPr lang="zh-TW" altLang="en-US" dirty="0">
                <a:latin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</a:rPr>
              <a:t>and PINN(</a:t>
            </a:r>
            <a:r>
              <a:rPr lang="zh-TW" altLang="en-US" dirty="0">
                <a:latin typeface="Times New Roman" panose="02020603050405020304" pitchFamily="18" charset="0"/>
              </a:rPr>
              <a:t>物理信息神經網路</a:t>
            </a:r>
            <a:r>
              <a:rPr lang="en-US" altLang="zh-TW" dirty="0">
                <a:latin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33B4180-EC7F-4265-A27C-A8E405A05B35}"/>
              </a:ext>
            </a:extLst>
          </p:cNvPr>
          <p:cNvSpPr/>
          <p:nvPr/>
        </p:nvSpPr>
        <p:spPr>
          <a:xfrm rot="150421">
            <a:off x="-243129" y="6165859"/>
            <a:ext cx="12678257" cy="1122927"/>
          </a:xfrm>
          <a:prstGeom prst="rect">
            <a:avLst/>
          </a:prstGeom>
          <a:solidFill>
            <a:srgbClr val="C2DEE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0047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40CE3ED3-0FF5-4BE7-9991-D5AA10D8D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202122"/>
                </a:solidFill>
                <a:latin typeface="Arial" panose="020B0604020202020204" pitchFamily="34" charset="0"/>
              </a:rPr>
              <a:t>P</a:t>
            </a:r>
            <a:r>
              <a:rPr lang="en-US" altLang="zh-TW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hysics-Informed </a:t>
            </a:r>
            <a:r>
              <a:rPr lang="en-US" altLang="zh-TW" dirty="0">
                <a:solidFill>
                  <a:srgbClr val="202122"/>
                </a:solidFill>
                <a:latin typeface="Arial" panose="020B0604020202020204" pitchFamily="34" charset="0"/>
              </a:rPr>
              <a:t>N</a:t>
            </a:r>
            <a:r>
              <a:rPr lang="en-US" altLang="zh-TW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eural </a:t>
            </a:r>
            <a:r>
              <a:rPr lang="en-US" altLang="zh-TW" dirty="0">
                <a:solidFill>
                  <a:srgbClr val="202122"/>
                </a:solidFill>
                <a:latin typeface="Arial" panose="020B0604020202020204" pitchFamily="34" charset="0"/>
              </a:rPr>
              <a:t>N</a:t>
            </a:r>
            <a:r>
              <a:rPr lang="en-US" altLang="zh-TW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etwork</a:t>
            </a:r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02DFA1E-EA1F-460C-B03D-A77DC1902E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</a:rPr>
              <a:t> model</a:t>
            </a:r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1FA8D2-DFD5-4756-AAA0-A83E1F45F56C}"/>
              </a:ext>
            </a:extLst>
          </p:cNvPr>
          <p:cNvSpPr/>
          <p:nvPr/>
        </p:nvSpPr>
        <p:spPr>
          <a:xfrm rot="150421">
            <a:off x="-243129" y="6165859"/>
            <a:ext cx="12678257" cy="1122927"/>
          </a:xfrm>
          <a:prstGeom prst="rect">
            <a:avLst/>
          </a:prstGeom>
          <a:solidFill>
            <a:srgbClr val="C2DEE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64141C2-BBD0-4CB7-8FEC-9E61F6A3624C}"/>
              </a:ext>
            </a:extLst>
          </p:cNvPr>
          <p:cNvSpPr txBox="1"/>
          <p:nvPr/>
        </p:nvSpPr>
        <p:spPr>
          <a:xfrm>
            <a:off x="500551" y="6205170"/>
            <a:ext cx="4187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https://deepxde.readthedocs.io/en/latest/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29833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50F11A-2F23-45E1-9555-75A0EC8AD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276" y="58677"/>
            <a:ext cx="11490435" cy="1325563"/>
          </a:xfrm>
        </p:spPr>
        <p:txBody>
          <a:bodyPr>
            <a:normAutofit/>
          </a:bodyPr>
          <a:lstStyle/>
          <a:p>
            <a:pPr algn="l"/>
            <a:r>
              <a:rPr lang="en-US" altLang="zh-TW" sz="4800" dirty="0">
                <a:solidFill>
                  <a:srgbClr val="202122"/>
                </a:solidFill>
                <a:latin typeface="Arial" panose="020B0604020202020204" pitchFamily="34" charset="0"/>
              </a:rPr>
              <a:t>P</a:t>
            </a:r>
            <a:r>
              <a:rPr lang="en-US" altLang="zh-TW" sz="48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hysics-Informed </a:t>
            </a:r>
            <a:r>
              <a:rPr lang="en-US" altLang="zh-TW" sz="4800" dirty="0">
                <a:solidFill>
                  <a:srgbClr val="202122"/>
                </a:solidFill>
                <a:latin typeface="Arial" panose="020B0604020202020204" pitchFamily="34" charset="0"/>
              </a:rPr>
              <a:t>N</a:t>
            </a:r>
            <a:r>
              <a:rPr lang="en-US" altLang="zh-TW" sz="48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eural </a:t>
            </a:r>
            <a:r>
              <a:rPr lang="en-US" altLang="zh-TW" sz="4800" dirty="0">
                <a:solidFill>
                  <a:srgbClr val="202122"/>
                </a:solidFill>
                <a:latin typeface="Arial" panose="020B0604020202020204" pitchFamily="34" charset="0"/>
              </a:rPr>
              <a:t>N</a:t>
            </a:r>
            <a:r>
              <a:rPr lang="en-US" altLang="zh-TW" sz="48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etwork</a:t>
            </a:r>
            <a:endParaRPr lang="en-US" altLang="zh-TW" sz="3600" i="0" dirty="0">
              <a:solidFill>
                <a:srgbClr val="000000"/>
              </a:solidFill>
              <a:effectLst/>
              <a:latin typeface="Lucida Grande"/>
            </a:endParaRPr>
          </a:p>
        </p:txBody>
      </p:sp>
      <p:graphicFrame>
        <p:nvGraphicFramePr>
          <p:cNvPr id="10" name="物件 9">
            <a:extLst>
              <a:ext uri="{FF2B5EF4-FFF2-40B4-BE49-F238E27FC236}">
                <a16:creationId xmlns:a16="http://schemas.microsoft.com/office/drawing/2014/main" id="{5BAF8DDD-2595-49AA-A9FA-DE7AA17166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6758438"/>
              </p:ext>
            </p:extLst>
          </p:nvPr>
        </p:nvGraphicFramePr>
        <p:xfrm>
          <a:off x="6038850" y="3338513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9" name="Equation" r:id="rId3" imgW="114120" imgH="177480" progId="Equation.DSMT4">
                  <p:embed/>
                </p:oleObj>
              </mc:Choice>
              <mc:Fallback>
                <p:oleObj name="Equation" r:id="rId3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38850" y="3338513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3803EACC-E160-47CE-8A54-99D701CB1C45}"/>
              </a:ext>
            </a:extLst>
          </p:cNvPr>
          <p:cNvSpPr/>
          <p:nvPr/>
        </p:nvSpPr>
        <p:spPr>
          <a:xfrm rot="150421">
            <a:off x="-243129" y="6165859"/>
            <a:ext cx="12678257" cy="1122927"/>
          </a:xfrm>
          <a:prstGeom prst="rect">
            <a:avLst/>
          </a:prstGeom>
          <a:solidFill>
            <a:srgbClr val="C2DEE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03046F3-C117-438C-AD24-C1DC36F18E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022" y="1239003"/>
            <a:ext cx="9344327" cy="52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049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50F11A-2F23-45E1-9555-75A0EC8AD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276" y="58677"/>
            <a:ext cx="11490435" cy="1325563"/>
          </a:xfrm>
        </p:spPr>
        <p:txBody>
          <a:bodyPr>
            <a:normAutofit/>
          </a:bodyPr>
          <a:lstStyle/>
          <a:p>
            <a:pPr algn="l"/>
            <a:r>
              <a:rPr lang="en-US" altLang="zh-TW" sz="3600" dirty="0" err="1">
                <a:solidFill>
                  <a:srgbClr val="000000"/>
                </a:solidFill>
                <a:latin typeface="Lucida Grande"/>
              </a:rPr>
              <a:t>DeepXde</a:t>
            </a:r>
            <a:r>
              <a:rPr lang="en-US" altLang="zh-TW" sz="3600" dirty="0">
                <a:solidFill>
                  <a:srgbClr val="000000"/>
                </a:solidFill>
                <a:latin typeface="Lucida Grande"/>
              </a:rPr>
              <a:t>(PINN)</a:t>
            </a:r>
            <a:endParaRPr lang="en-US" altLang="zh-TW" sz="3600" i="0" dirty="0">
              <a:solidFill>
                <a:srgbClr val="000000"/>
              </a:solidFill>
              <a:effectLst/>
              <a:latin typeface="Lucida Grande"/>
            </a:endParaRPr>
          </a:p>
        </p:txBody>
      </p:sp>
      <p:graphicFrame>
        <p:nvGraphicFramePr>
          <p:cNvPr id="10" name="物件 9">
            <a:extLst>
              <a:ext uri="{FF2B5EF4-FFF2-40B4-BE49-F238E27FC236}">
                <a16:creationId xmlns:a16="http://schemas.microsoft.com/office/drawing/2014/main" id="{5BAF8DDD-2595-49AA-A9FA-DE7AA17166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38850" y="3338513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Equation" r:id="rId3" imgW="114120" imgH="177480" progId="Equation.DSMT4">
                  <p:embed/>
                </p:oleObj>
              </mc:Choice>
              <mc:Fallback>
                <p:oleObj name="Equation" r:id="rId3" imgW="114120" imgH="177480" progId="Equation.DSMT4">
                  <p:embed/>
                  <p:pic>
                    <p:nvPicPr>
                      <p:cNvPr id="10" name="物件 9">
                        <a:extLst>
                          <a:ext uri="{FF2B5EF4-FFF2-40B4-BE49-F238E27FC236}">
                            <a16:creationId xmlns:a16="http://schemas.microsoft.com/office/drawing/2014/main" id="{5BAF8DDD-2595-49AA-A9FA-DE7AA17166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38850" y="3338513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3803EACC-E160-47CE-8A54-99D701CB1C45}"/>
              </a:ext>
            </a:extLst>
          </p:cNvPr>
          <p:cNvSpPr/>
          <p:nvPr/>
        </p:nvSpPr>
        <p:spPr>
          <a:xfrm rot="150421">
            <a:off x="-243129" y="6165859"/>
            <a:ext cx="12678257" cy="1122927"/>
          </a:xfrm>
          <a:prstGeom prst="rect">
            <a:avLst/>
          </a:prstGeom>
          <a:solidFill>
            <a:srgbClr val="C2DEE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327343C-3380-4625-99C0-661DAE150E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276" y="1500821"/>
            <a:ext cx="9497750" cy="4972744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4A620EB3-9248-4F46-8102-F65C0D960BE3}"/>
              </a:ext>
            </a:extLst>
          </p:cNvPr>
          <p:cNvSpPr txBox="1"/>
          <p:nvPr/>
        </p:nvSpPr>
        <p:spPr>
          <a:xfrm>
            <a:off x="559837" y="103180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解微分方程</a:t>
            </a:r>
          </a:p>
        </p:txBody>
      </p:sp>
    </p:spTree>
    <p:extLst>
      <p:ext uri="{BB962C8B-B14F-4D97-AF65-F5344CB8AC3E}">
        <p14:creationId xmlns:p14="http://schemas.microsoft.com/office/powerpoint/2010/main" val="4271744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50F11A-2F23-45E1-9555-75A0EC8AD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276" y="58677"/>
            <a:ext cx="11490435" cy="1325563"/>
          </a:xfrm>
        </p:spPr>
        <p:txBody>
          <a:bodyPr>
            <a:normAutofit/>
          </a:bodyPr>
          <a:lstStyle/>
          <a:p>
            <a:pPr algn="l"/>
            <a:r>
              <a:rPr lang="en-US" altLang="zh-TW" sz="3600" dirty="0" err="1">
                <a:solidFill>
                  <a:srgbClr val="000000"/>
                </a:solidFill>
                <a:latin typeface="Lucida Grande"/>
              </a:rPr>
              <a:t>DeepXde</a:t>
            </a:r>
            <a:r>
              <a:rPr lang="en-US" altLang="zh-TW" sz="3600" dirty="0">
                <a:solidFill>
                  <a:srgbClr val="000000"/>
                </a:solidFill>
                <a:latin typeface="Lucida Grande"/>
              </a:rPr>
              <a:t>(</a:t>
            </a:r>
            <a:r>
              <a:rPr lang="en-US" altLang="zh-TW" sz="3600" dirty="0" err="1">
                <a:solidFill>
                  <a:srgbClr val="000000"/>
                </a:solidFill>
                <a:latin typeface="Lucida Grande"/>
              </a:rPr>
              <a:t>DeepONet</a:t>
            </a:r>
            <a:r>
              <a:rPr lang="en-US" altLang="zh-TW" sz="3600" dirty="0">
                <a:solidFill>
                  <a:srgbClr val="000000"/>
                </a:solidFill>
                <a:latin typeface="Lucida Grande"/>
              </a:rPr>
              <a:t>)</a:t>
            </a:r>
            <a:endParaRPr lang="en-US" altLang="zh-TW" sz="3600" i="0" dirty="0">
              <a:solidFill>
                <a:srgbClr val="000000"/>
              </a:solidFill>
              <a:effectLst/>
              <a:latin typeface="Lucida Grande"/>
            </a:endParaRPr>
          </a:p>
        </p:txBody>
      </p:sp>
      <p:graphicFrame>
        <p:nvGraphicFramePr>
          <p:cNvPr id="10" name="物件 9">
            <a:extLst>
              <a:ext uri="{FF2B5EF4-FFF2-40B4-BE49-F238E27FC236}">
                <a16:creationId xmlns:a16="http://schemas.microsoft.com/office/drawing/2014/main" id="{5BAF8DDD-2595-49AA-A9FA-DE7AA17166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38850" y="3338513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5" name="Equation" r:id="rId3" imgW="114120" imgH="177480" progId="Equation.DSMT4">
                  <p:embed/>
                </p:oleObj>
              </mc:Choice>
              <mc:Fallback>
                <p:oleObj name="Equation" r:id="rId3" imgW="114120" imgH="177480" progId="Equation.DSMT4">
                  <p:embed/>
                  <p:pic>
                    <p:nvPicPr>
                      <p:cNvPr id="10" name="物件 9">
                        <a:extLst>
                          <a:ext uri="{FF2B5EF4-FFF2-40B4-BE49-F238E27FC236}">
                            <a16:creationId xmlns:a16="http://schemas.microsoft.com/office/drawing/2014/main" id="{5BAF8DDD-2595-49AA-A9FA-DE7AA17166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38850" y="3338513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3803EACC-E160-47CE-8A54-99D701CB1C45}"/>
              </a:ext>
            </a:extLst>
          </p:cNvPr>
          <p:cNvSpPr/>
          <p:nvPr/>
        </p:nvSpPr>
        <p:spPr>
          <a:xfrm rot="150421">
            <a:off x="-243129" y="6165859"/>
            <a:ext cx="12678257" cy="1122927"/>
          </a:xfrm>
          <a:prstGeom prst="rect">
            <a:avLst/>
          </a:prstGeom>
          <a:solidFill>
            <a:srgbClr val="C2DEE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CD2DC90-7324-4741-8247-B3C69B4DF7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276" y="1432157"/>
            <a:ext cx="9440592" cy="4963218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32DDCE1-52A5-402C-A9AE-B807F37B82DE}"/>
              </a:ext>
            </a:extLst>
          </p:cNvPr>
          <p:cNvSpPr txBox="1"/>
          <p:nvPr/>
        </p:nvSpPr>
        <p:spPr>
          <a:xfrm>
            <a:off x="510276" y="101490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解算符</a:t>
            </a:r>
          </a:p>
        </p:txBody>
      </p:sp>
    </p:spTree>
    <p:extLst>
      <p:ext uri="{BB962C8B-B14F-4D97-AF65-F5344CB8AC3E}">
        <p14:creationId xmlns:p14="http://schemas.microsoft.com/office/powerpoint/2010/main" val="2602769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50F11A-2F23-45E1-9555-75A0EC8AD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276" y="58677"/>
            <a:ext cx="11490435" cy="1325563"/>
          </a:xfrm>
        </p:spPr>
        <p:txBody>
          <a:bodyPr>
            <a:normAutofit/>
          </a:bodyPr>
          <a:lstStyle/>
          <a:p>
            <a:pPr algn="l"/>
            <a:r>
              <a:rPr lang="en-US" altLang="zh-TW" sz="3200" i="0" dirty="0" err="1">
                <a:solidFill>
                  <a:srgbClr val="000000"/>
                </a:solidFill>
                <a:effectLst/>
                <a:latin typeface="Lucida Grande"/>
              </a:rPr>
              <a:t>DeepXde</a:t>
            </a:r>
            <a:r>
              <a:rPr lang="en-US" altLang="zh-TW" sz="3200" i="0" dirty="0">
                <a:solidFill>
                  <a:srgbClr val="000000"/>
                </a:solidFill>
                <a:effectLst/>
                <a:latin typeface="Lucida Grande"/>
              </a:rPr>
              <a:t> (Backend)</a:t>
            </a:r>
          </a:p>
        </p:txBody>
      </p:sp>
      <p:graphicFrame>
        <p:nvGraphicFramePr>
          <p:cNvPr id="10" name="物件 9">
            <a:extLst>
              <a:ext uri="{FF2B5EF4-FFF2-40B4-BE49-F238E27FC236}">
                <a16:creationId xmlns:a16="http://schemas.microsoft.com/office/drawing/2014/main" id="{5BAF8DDD-2595-49AA-A9FA-DE7AA17166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38850" y="3338513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8" name="Equation" r:id="rId3" imgW="114120" imgH="177480" progId="Equation.DSMT4">
                  <p:embed/>
                </p:oleObj>
              </mc:Choice>
              <mc:Fallback>
                <p:oleObj name="Equation" r:id="rId3" imgW="114120" imgH="177480" progId="Equation.DSMT4">
                  <p:embed/>
                  <p:pic>
                    <p:nvPicPr>
                      <p:cNvPr id="10" name="物件 9">
                        <a:extLst>
                          <a:ext uri="{FF2B5EF4-FFF2-40B4-BE49-F238E27FC236}">
                            <a16:creationId xmlns:a16="http://schemas.microsoft.com/office/drawing/2014/main" id="{5BAF8DDD-2595-49AA-A9FA-DE7AA17166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38850" y="3338513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9CBA7A6-D753-4D70-A66B-F1E4C7F4A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384" y="1218416"/>
            <a:ext cx="8400393" cy="7721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dirty="0">
                <a:solidFill>
                  <a:srgbClr val="242424"/>
                </a:solidFill>
                <a:latin typeface="sohne"/>
              </a:rPr>
              <a:t>支援主流之深度學習套件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803EACC-E160-47CE-8A54-99D701CB1C45}"/>
              </a:ext>
            </a:extLst>
          </p:cNvPr>
          <p:cNvSpPr/>
          <p:nvPr/>
        </p:nvSpPr>
        <p:spPr>
          <a:xfrm rot="150421">
            <a:off x="-243129" y="6165859"/>
            <a:ext cx="12678257" cy="1122927"/>
          </a:xfrm>
          <a:prstGeom prst="rect">
            <a:avLst/>
          </a:prstGeom>
          <a:solidFill>
            <a:srgbClr val="C2DEE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15A7775-C666-4772-9175-B2285808CA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384" y="2850059"/>
            <a:ext cx="10443563" cy="2536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182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40CE3ED3-0FF5-4BE7-9991-D5AA10D8D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HW5</a:t>
            </a:r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02DFA1E-EA1F-460C-B03D-A77DC1902E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rPr>
              <a:t>2D Wave equation</a:t>
            </a:r>
            <a:endParaRPr lang="zh-TW" altLang="en-US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1FA8D2-DFD5-4756-AAA0-A83E1F45F56C}"/>
              </a:ext>
            </a:extLst>
          </p:cNvPr>
          <p:cNvSpPr/>
          <p:nvPr/>
        </p:nvSpPr>
        <p:spPr>
          <a:xfrm rot="150421">
            <a:off x="-243129" y="6165859"/>
            <a:ext cx="12678257" cy="1122927"/>
          </a:xfrm>
          <a:prstGeom prst="rect">
            <a:avLst/>
          </a:prstGeom>
          <a:solidFill>
            <a:srgbClr val="C2DEE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3627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BCAF360-054D-4BEA-8A69-BFC491F89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457" y="410547"/>
            <a:ext cx="10414649" cy="799128"/>
          </a:xfrm>
        </p:spPr>
        <p:txBody>
          <a:bodyPr>
            <a:normAutofit fontScale="90000"/>
          </a:bodyPr>
          <a:lstStyle/>
          <a:p>
            <a:r>
              <a:rPr lang="en-US" altLang="zh-TW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Electromagnetic wave equation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0EF50AC-9E68-44F4-9984-302F186E03CA}"/>
              </a:ext>
            </a:extLst>
          </p:cNvPr>
          <p:cNvSpPr txBox="1"/>
          <p:nvPr/>
        </p:nvSpPr>
        <p:spPr>
          <a:xfrm>
            <a:off x="651457" y="12858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3A3A3A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Maxwell’s equation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3F0DB0EA-9544-4B82-BAE9-1578C6DF8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57" y="1655165"/>
            <a:ext cx="2495898" cy="2067213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6FAE37FB-8430-4823-8508-61309FACDF78}"/>
              </a:ext>
            </a:extLst>
          </p:cNvPr>
          <p:cNvSpPr txBox="1"/>
          <p:nvPr/>
        </p:nvSpPr>
        <p:spPr>
          <a:xfrm>
            <a:off x="3209731" y="168928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電場高斯定律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BA7290C4-3AFB-46FC-865C-7C25B1472E42}"/>
              </a:ext>
            </a:extLst>
          </p:cNvPr>
          <p:cNvSpPr txBox="1"/>
          <p:nvPr/>
        </p:nvSpPr>
        <p:spPr>
          <a:xfrm>
            <a:off x="3209731" y="2688771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電場高斯定律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5524461E-3FA7-4358-8082-F1C75D69F7BF}"/>
              </a:ext>
            </a:extLst>
          </p:cNvPr>
          <p:cNvSpPr txBox="1"/>
          <p:nvPr/>
        </p:nvSpPr>
        <p:spPr>
          <a:xfrm>
            <a:off x="3209731" y="218902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法拉第定律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DDCA2D4-4166-4553-A5C2-0783116575DA}"/>
              </a:ext>
            </a:extLst>
          </p:cNvPr>
          <p:cNvSpPr txBox="1"/>
          <p:nvPr/>
        </p:nvSpPr>
        <p:spPr>
          <a:xfrm>
            <a:off x="3209731" y="312519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安培定律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9AB6210-E00D-47C6-80D4-BD8D2A7D1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457" y="4288756"/>
            <a:ext cx="5544324" cy="143847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EB52C410-BA7E-4222-984E-B08E8000FD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9973" y="1597685"/>
            <a:ext cx="4067743" cy="55252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82D8D4F1-4661-4768-B22F-541947D3A7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9491" y="4183966"/>
            <a:ext cx="2943636" cy="1648055"/>
          </a:xfrm>
          <a:prstGeom prst="rect">
            <a:avLst/>
          </a:prstGeom>
        </p:spPr>
      </p:pic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141967AA-AFEA-4890-AE48-29AEC55B0EF7}"/>
              </a:ext>
            </a:extLst>
          </p:cNvPr>
          <p:cNvCxnSpPr>
            <a:stCxn id="2" idx="2"/>
          </p:cNvCxnSpPr>
          <p:nvPr/>
        </p:nvCxnSpPr>
        <p:spPr>
          <a:xfrm>
            <a:off x="1899406" y="3722378"/>
            <a:ext cx="0" cy="5663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9AD6226F-0484-45E7-986F-D9FBECA315DB}"/>
              </a:ext>
            </a:extLst>
          </p:cNvPr>
          <p:cNvCxnSpPr>
            <a:stCxn id="9" idx="1"/>
            <a:endCxn id="7" idx="0"/>
          </p:cNvCxnSpPr>
          <p:nvPr/>
        </p:nvCxnSpPr>
        <p:spPr>
          <a:xfrm flipH="1">
            <a:off x="3423619" y="1873949"/>
            <a:ext cx="3456354" cy="241480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3E87824C-A984-4076-A24B-3CF8EFAD0301}"/>
              </a:ext>
            </a:extLst>
          </p:cNvPr>
          <p:cNvCxnSpPr>
            <a:stCxn id="7" idx="3"/>
          </p:cNvCxnSpPr>
          <p:nvPr/>
        </p:nvCxnSpPr>
        <p:spPr>
          <a:xfrm>
            <a:off x="6195781" y="5007994"/>
            <a:ext cx="1529966" cy="0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7211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BCAF360-054D-4BEA-8A69-BFC491F89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457" y="410547"/>
            <a:ext cx="10414649" cy="799128"/>
          </a:xfrm>
        </p:spPr>
        <p:txBody>
          <a:bodyPr>
            <a:noAutofit/>
          </a:bodyPr>
          <a:lstStyle/>
          <a:p>
            <a:r>
              <a:rPr lang="en-US" altLang="zh-TW" sz="4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Solution of Electromagnetic wave equation</a:t>
            </a:r>
            <a:endParaRPr lang="zh-TW" altLang="en-US" sz="40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0EF50AC-9E68-44F4-9984-302F186E03CA}"/>
              </a:ext>
            </a:extLst>
          </p:cNvPr>
          <p:cNvSpPr txBox="1"/>
          <p:nvPr/>
        </p:nvSpPr>
        <p:spPr>
          <a:xfrm>
            <a:off x="651457" y="12858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Initial/Boundary problem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F2966DA-6837-4DCE-AF1E-650139FDD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57" y="1690316"/>
            <a:ext cx="3934374" cy="215295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AEBBDE6D-D048-4EF8-8E7F-13DE6BC4E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457" y="5167684"/>
            <a:ext cx="4467849" cy="533474"/>
          </a:xfrm>
          <a:prstGeom prst="rect">
            <a:avLst/>
          </a:prstGeom>
        </p:spPr>
      </p:pic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2D346722-CF7F-4203-A965-0E986687D982}"/>
              </a:ext>
            </a:extLst>
          </p:cNvPr>
          <p:cNvCxnSpPr/>
          <p:nvPr/>
        </p:nvCxnSpPr>
        <p:spPr>
          <a:xfrm>
            <a:off x="982824" y="3878417"/>
            <a:ext cx="0" cy="12892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CC581B8-A6C2-4D5C-99E4-F5547914EB4F}"/>
              </a:ext>
            </a:extLst>
          </p:cNvPr>
          <p:cNvSpPr txBox="1"/>
          <p:nvPr/>
        </p:nvSpPr>
        <p:spPr>
          <a:xfrm>
            <a:off x="1144556" y="4320809"/>
            <a:ext cx="2328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By D</a:t>
            </a:r>
            <a:r>
              <a:rPr lang="en-US" altLang="zh-TW" sz="18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’Alembert solution</a:t>
            </a:r>
            <a:endParaRPr lang="zh-TW" altLang="en-US" dirty="0"/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93A24135-5B14-48D7-9EF2-425900232BB6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59" t="13454" r="8144" b="6983"/>
          <a:stretch/>
        </p:blipFill>
        <p:spPr bwMode="auto">
          <a:xfrm>
            <a:off x="6038183" y="1863160"/>
            <a:ext cx="4540899" cy="37355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9573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EBED62-029A-487A-A5EB-89CFFC231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690" y="19891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</a:rPr>
              <a:t>Basic level</a:t>
            </a:r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2660B0E-5F6B-4E59-8A18-C00328F314E9}"/>
              </a:ext>
            </a:extLst>
          </p:cNvPr>
          <p:cNvSpPr txBox="1"/>
          <p:nvPr/>
        </p:nvSpPr>
        <p:spPr>
          <a:xfrm>
            <a:off x="6245290" y="12938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1C0B5D2-D8D6-4121-BF69-71BA89964611}"/>
              </a:ext>
            </a:extLst>
          </p:cNvPr>
          <p:cNvSpPr txBox="1"/>
          <p:nvPr/>
        </p:nvSpPr>
        <p:spPr>
          <a:xfrm>
            <a:off x="821691" y="1041918"/>
            <a:ext cx="11239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請由本作業提供之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HW5_sample_code.ipynb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，透過適當填入參數，以成功跑出神經網路回歸之解與分析解。</a:t>
            </a:r>
          </a:p>
          <a:p>
            <a:r>
              <a:rPr lang="en-US" altLang="zh-TW" sz="1800" kern="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(70%)</a:t>
            </a:r>
            <a:endParaRPr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E496007F-5EA6-4086-801D-D2701896FBAE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1690" y="1688249"/>
            <a:ext cx="10515600" cy="1114592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CADBA3CF-2493-47E5-AF58-C668BFAB641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21690" y="2885444"/>
            <a:ext cx="6342069" cy="1404044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3E171959-CF29-4FA0-B232-10B3F94A39A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21690" y="4372092"/>
            <a:ext cx="5274310" cy="144399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D50D2344-4DD9-4021-96DD-C1F8A9F6A0D2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821690" y="5933492"/>
            <a:ext cx="527431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410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A3D749-F54E-4F05-9825-276AE1C28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Intermediate level</a:t>
            </a:r>
            <a:endParaRPr lang="zh-TW" altLang="en-US" sz="88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9DBD36F-4062-4B5C-B9FF-37F690EC3388}"/>
              </a:ext>
            </a:extLst>
          </p:cNvPr>
          <p:cNvSpPr txBox="1"/>
          <p:nvPr/>
        </p:nvSpPr>
        <p:spPr>
          <a:xfrm>
            <a:off x="821689" y="1065212"/>
            <a:ext cx="10816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增加不同神經元之寬度與層數，進行更深度之學習。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(15%)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A535805-F7EF-4678-946F-3D1DFA91F4F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1839121"/>
            <a:ext cx="6452118" cy="182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827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6CD2D5-CFD7-4739-893E-5AA40907D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Advanced level</a:t>
            </a:r>
            <a:endParaRPr lang="zh-TW" altLang="en-US" sz="88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735EFB1-77F2-48F8-9D30-8291E287D664}"/>
              </a:ext>
            </a:extLst>
          </p:cNvPr>
          <p:cNvSpPr txBox="1"/>
          <p:nvPr/>
        </p:nvSpPr>
        <p:spPr>
          <a:xfrm>
            <a:off x="706188" y="1499257"/>
            <a:ext cx="10647612" cy="38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400"/>
              </a:lnSpc>
            </a:pP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劃出分上圖分析解之圖形，注意網格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(mesh)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的顏色需為灰色。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(15%)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DDD0203-4ACE-4B03-BFAF-396E3687DECB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87" t="4047" r="8857" b="4912"/>
          <a:stretch/>
        </p:blipFill>
        <p:spPr bwMode="auto">
          <a:xfrm>
            <a:off x="6183086" y="2342132"/>
            <a:ext cx="4167672" cy="3601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16C4B17-7F79-4FDD-A420-F639BDAF0D67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59" t="13454" r="8144" b="6983"/>
          <a:stretch/>
        </p:blipFill>
        <p:spPr bwMode="auto">
          <a:xfrm>
            <a:off x="1086738" y="2342132"/>
            <a:ext cx="4540899" cy="373550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5034179A-DB32-4E55-B66A-F53135FE6D2D}"/>
              </a:ext>
            </a:extLst>
          </p:cNvPr>
          <p:cNvSpPr/>
          <p:nvPr/>
        </p:nvSpPr>
        <p:spPr>
          <a:xfrm>
            <a:off x="7246776" y="2455114"/>
            <a:ext cx="1741714" cy="2861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PINN solution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D502DD2-8E8B-45E4-9884-33F1574A824C}"/>
              </a:ext>
            </a:extLst>
          </p:cNvPr>
          <p:cNvSpPr txBox="1"/>
          <p:nvPr/>
        </p:nvSpPr>
        <p:spPr>
          <a:xfrm>
            <a:off x="3357187" y="2413518"/>
            <a:ext cx="1910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Analytical solution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63703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2AB7CD-D4B4-4184-8028-97C628E0E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作業繳交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00D4B8D-5E71-4BA6-A4D6-FCE6EE5F4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將作業之</a:t>
            </a:r>
            <a:r>
              <a:rPr lang="en-US" altLang="zh-TW" dirty="0"/>
              <a:t>code</a:t>
            </a:r>
            <a:r>
              <a:rPr lang="zh-TW" altLang="en-US" dirty="0"/>
              <a:t>列印出紙本訂起來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如果有做</a:t>
            </a:r>
            <a:r>
              <a:rPr lang="en-US" altLang="zh-TW" dirty="0"/>
              <a:t>intermediate level/advanced level</a:t>
            </a:r>
            <a:r>
              <a:rPr lang="zh-TW" altLang="en-US" dirty="0"/>
              <a:t>請特別標示出來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請附上結果圖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兩周後上課繳交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63021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中庸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</TotalTime>
  <Words>215</Words>
  <Application>Microsoft Office PowerPoint</Application>
  <PresentationFormat>寬螢幕</PresentationFormat>
  <Paragraphs>37</Paragraphs>
  <Slides>13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1" baseType="lpstr">
      <vt:lpstr>Lucida Grande</vt:lpstr>
      <vt:lpstr>sohne</vt:lpstr>
      <vt:lpstr>標楷體</vt:lpstr>
      <vt:lpstr>Arial</vt:lpstr>
      <vt:lpstr>Calibri</vt:lpstr>
      <vt:lpstr>Times New Roman</vt:lpstr>
      <vt:lpstr>Office 佈景主題</vt:lpstr>
      <vt:lpstr>Equation</vt:lpstr>
      <vt:lpstr>HW5 講解</vt:lpstr>
      <vt:lpstr>Physics-Informed Neural Network</vt:lpstr>
      <vt:lpstr>Physics-Informed Neural Network</vt:lpstr>
      <vt:lpstr>DeepXde(PINN)</vt:lpstr>
      <vt:lpstr>DeepXde(DeepONet)</vt:lpstr>
      <vt:lpstr>DeepXde (Backend)</vt:lpstr>
      <vt:lpstr>HW5</vt:lpstr>
      <vt:lpstr>Electromagnetic wave equation</vt:lpstr>
      <vt:lpstr>Solution of Electromagnetic wave equation</vt:lpstr>
      <vt:lpstr>Basic level</vt:lpstr>
      <vt:lpstr>Intermediate level</vt:lpstr>
      <vt:lpstr>Advanced level</vt:lpstr>
      <vt:lpstr>作業繳交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柏宇 林</dc:creator>
  <cp:lastModifiedBy>柏宇 林</cp:lastModifiedBy>
  <cp:revision>66</cp:revision>
  <dcterms:created xsi:type="dcterms:W3CDTF">2024-09-04T01:56:14Z</dcterms:created>
  <dcterms:modified xsi:type="dcterms:W3CDTF">2024-12-05T09:38:36Z</dcterms:modified>
</cp:coreProperties>
</file>